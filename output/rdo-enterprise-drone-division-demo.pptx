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918468c5434e36" /><Relationship Type="http://schemas.openxmlformats.org/officeDocument/2006/relationships/extended-properties" Target="/docProps/app.xml" Id="Rd00eea6779224e49" /><Relationship Type="http://schemas.openxmlformats.org/officeDocument/2006/relationships/officeDocument" Target="/ppt/presentation.xml" Id="Rddb6cf94e5654b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b3d41974db4d7c"/>
  </p:sldMasterIdLst>
  <p:notesMasterIdLst>
    <p:notesMasterId xmlns:r="http://schemas.openxmlformats.org/officeDocument/2006/relationships" r:id="R1b2fa97ef174422b"/>
  </p:notesMasterIdLst>
  <p:sldIdLst>
    <p:sldId xmlns:r="http://schemas.openxmlformats.org/officeDocument/2006/relationships" id="256" r:id="R366283784e1c4a7a"/>
    <p:sldId xmlns:r="http://schemas.openxmlformats.org/officeDocument/2006/relationships" id="257" r:id="R6e32d562f78a4a8b"/>
    <p:sldId xmlns:r="http://schemas.openxmlformats.org/officeDocument/2006/relationships" id="258" r:id="R1dbf946802e84f58"/>
    <p:sldId xmlns:r="http://schemas.openxmlformats.org/officeDocument/2006/relationships" id="259" r:id="Rdd92d05b579047f8"/>
    <p:sldId xmlns:r="http://schemas.openxmlformats.org/officeDocument/2006/relationships" id="260" r:id="R219e5f9f59e044d0"/>
    <p:sldId xmlns:r="http://schemas.openxmlformats.org/officeDocument/2006/relationships" id="261" r:id="R3ec7fd76b6d0440b"/>
    <p:sldId xmlns:r="http://schemas.openxmlformats.org/officeDocument/2006/relationships" id="262" r:id="Rb743887a12bf4c93"/>
    <p:sldId xmlns:r="http://schemas.openxmlformats.org/officeDocument/2006/relationships" id="263" r:id="Ra681552183b2470b"/>
    <p:sldId xmlns:r="http://schemas.openxmlformats.org/officeDocument/2006/relationships" id="264" r:id="R67ad72c629e8428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3d41974db4d7c" /><Relationship Type="http://schemas.openxmlformats.org/officeDocument/2006/relationships/theme" Target="/ppt/theme/theme1.xml" Id="Rbada3c64dac742be" /><Relationship Type="http://schemas.openxmlformats.org/officeDocument/2006/relationships/notesMaster" Target="/ppt/notesMasters/notesMaster1.xml" Id="R1b2fa97ef174422b" /><Relationship Type="http://schemas.openxmlformats.org/officeDocument/2006/relationships/presProps" Target="/ppt/presProps.xml" Id="R537ef09631d54517" /><Relationship Type="http://schemas.openxmlformats.org/officeDocument/2006/relationships/viewProps" Target="/ppt/viewProps.xml" Id="R8f1cf94af99c447d" /><Relationship Type="http://schemas.openxmlformats.org/officeDocument/2006/relationships/tableStyles" Target="/ppt/tableStyles.xml" Id="Rb657310b51244a9b" /><Relationship Type="http://schemas.openxmlformats.org/officeDocument/2006/relationships/slide" Target="/ppt/slides/slide1.xml" Id="R366283784e1c4a7a" /><Relationship Type="http://schemas.openxmlformats.org/officeDocument/2006/relationships/slide" Target="/ppt/slides/slide2.xml" Id="R6e32d562f78a4a8b" /><Relationship Type="http://schemas.openxmlformats.org/officeDocument/2006/relationships/slide" Target="/ppt/slides/slide3.xml" Id="R1dbf946802e84f58" /><Relationship Type="http://schemas.openxmlformats.org/officeDocument/2006/relationships/slide" Target="/ppt/slides/slide4.xml" Id="Rdd92d05b579047f8" /><Relationship Type="http://schemas.openxmlformats.org/officeDocument/2006/relationships/slide" Target="/ppt/slides/slide5.xml" Id="R219e5f9f59e044d0" /><Relationship Type="http://schemas.openxmlformats.org/officeDocument/2006/relationships/slide" Target="/ppt/slides/slide6.xml" Id="R3ec7fd76b6d0440b" /><Relationship Type="http://schemas.openxmlformats.org/officeDocument/2006/relationships/slide" Target="/ppt/slides/slide7.xml" Id="Rb743887a12bf4c93" /><Relationship Type="http://schemas.openxmlformats.org/officeDocument/2006/relationships/slide" Target="/ppt/slides/slide8.xml" Id="Ra681552183b2470b" /><Relationship Type="http://schemas.openxmlformats.org/officeDocument/2006/relationships/slide" Target="/ppt/slides/slide9.xml" Id="R67ad72c629e842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afd9814f15a43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0204fd756e4b83" /><Relationship Type="http://schemas.openxmlformats.org/officeDocument/2006/relationships/notesMaster" Target="/ppt/notesMasters/notesMaster1.xml" Id="Re48b3390ce684e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ffd63fe43c4caa" /><Relationship Type="http://schemas.openxmlformats.org/officeDocument/2006/relationships/notesMaster" Target="/ppt/notesMasters/notesMaster1.xml" Id="R67f948c4fc3c41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6ea719b9e84ff8" /><Relationship Type="http://schemas.openxmlformats.org/officeDocument/2006/relationships/notesMaster" Target="/ppt/notesMasters/notesMaster1.xml" Id="R4e1d66279b7f4b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4e91d499f34706" /><Relationship Type="http://schemas.openxmlformats.org/officeDocument/2006/relationships/notesMaster" Target="/ppt/notesMasters/notesMaster1.xml" Id="R50c741117ea74a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e43b1c77514a10" /><Relationship Type="http://schemas.openxmlformats.org/officeDocument/2006/relationships/notesMaster" Target="/ppt/notesMasters/notesMaster1.xml" Id="R7d714f6de7524b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e2b8eb26844d36" /><Relationship Type="http://schemas.openxmlformats.org/officeDocument/2006/relationships/notesMaster" Target="/ppt/notesMasters/notesMaster1.xml" Id="R5547a8465f9f48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dfbf17b8ca4a55" /><Relationship Type="http://schemas.openxmlformats.org/officeDocument/2006/relationships/notesMaster" Target="/ppt/notesMasters/notesMaster1.xml" Id="R3f23b921510340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4773db584f4213" /><Relationship Type="http://schemas.openxmlformats.org/officeDocument/2006/relationships/notesMaster" Target="/ppt/notesMasters/notesMaster1.xml" Id="Rad0351eebbf84c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6db3c12b1540a3" /><Relationship Type="http://schemas.openxmlformats.org/officeDocument/2006/relationships/notesMaster" Target="/ppt/notesMasters/notesMaster1.xml" Id="R9a94c9ba079b46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6709a16fb0425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4a29afec07741b6" /><Relationship Type="http://schemas.openxmlformats.org/officeDocument/2006/relationships/slideLayout" Target="/ppt/slideLayouts/slideLayout2.xml" Id="Rd20f1612536d47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0f1612536d47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cc440d386e4543" /><Relationship Type="http://schemas.openxmlformats.org/officeDocument/2006/relationships/notesSlide" Target="/ppt/notesSlides/notesSlide1.xml" Id="R37adc29fc7974e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3448f7f1da49c4" /><Relationship Type="http://schemas.openxmlformats.org/officeDocument/2006/relationships/notesSlide" Target="/ppt/notesSlides/notesSlide2.xml" Id="Ra022e96f22cb45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83e8640ec74631" /><Relationship Type="http://schemas.openxmlformats.org/officeDocument/2006/relationships/notesSlide" Target="/ppt/notesSlides/notesSlide3.xml" Id="R4d71b7ff304a42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f11cefcd314609" /><Relationship Type="http://schemas.openxmlformats.org/officeDocument/2006/relationships/notesSlide" Target="/ppt/notesSlides/notesSlide4.xml" Id="R5c3388d929d541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b6fae004034ae2" /><Relationship Type="http://schemas.openxmlformats.org/officeDocument/2006/relationships/notesSlide" Target="/ppt/notesSlides/notesSlide5.xml" Id="R6420224c75c14d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5e7f3e09a64427" /><Relationship Type="http://schemas.openxmlformats.org/officeDocument/2006/relationships/notesSlide" Target="/ppt/notesSlides/notesSlide6.xml" Id="R2c4515fdc19f42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b4c0cda4374ac0" /><Relationship Type="http://schemas.openxmlformats.org/officeDocument/2006/relationships/notesSlide" Target="/ppt/notesSlides/notesSlide7.xml" Id="R568b269db9e54f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0651b401a04614" /><Relationship Type="http://schemas.openxmlformats.org/officeDocument/2006/relationships/notesSlide" Target="/ppt/notesSlides/notesSlide8.xml" Id="Rdec95466637a46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d2ef9c5fe740ed" /><Relationship Type="http://schemas.openxmlformats.org/officeDocument/2006/relationships/notesSlide" Target="/ppt/notesSlides/notesSlide9.xml" Id="Rc69fc594e74e4aa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base">
            <a:extLst xmlns:a="http://schemas.openxmlformats.org/drawingml/2006/main">
              <a:ext uri="{FF2B5EF4-FFF2-40B4-BE49-F238E27FC236}">
                <a16:creationId xmlns:a16="http://schemas.microsoft.com/office/drawing/2014/main" id="{42DE636D-0255-43AE-8DDE-24887B99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</p:spPr>
      </p:sp>
      <p:sp>
        <p:nvSpPr>
          <p:cNvPr id="2" name="bg-band">
            <a:extLst xmlns:a="http://schemas.openxmlformats.org/drawingml/2006/main">
              <a:ext uri="{FF2B5EF4-FFF2-40B4-BE49-F238E27FC236}">
                <a16:creationId xmlns:a16="http://schemas.microsoft.com/office/drawing/2014/main" id="{5EBD96AC-8A47-4128-9DAD-85DB43A6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4"/>
          </a:solidFill>
        </p:spPr>
      </p:sp>
      <p:sp>
        <p:nvSpPr>
          <p:cNvPr id="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37647868-5420-47A8-8471-FA7D241A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4" name="field-line">
            <a:extLst xmlns:a="http://schemas.openxmlformats.org/drawingml/2006/main">
              <a:ext uri="{FF2B5EF4-FFF2-40B4-BE49-F238E27FC236}">
                <a16:creationId xmlns:a16="http://schemas.microsoft.com/office/drawing/2014/main" id="{990E0A6C-9877-4017-B3B8-30D028A0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5"/>
          </a:solidFill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7A880709-14E1-423C-90F7-A1D3ADCE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2DA93"/>
                </a:solidFill>
              </a:defRPr>
            </a:pPr>
            <a:r>
              <a:rPr sz="1350" b="1">
                <a:solidFill>
                  <a:srgbClr val="E2DA93"/>
                </a:solidFill>
              </a:rPr>
              <a:t>HARVEST DRONE OS</a:t>
            </a:r>
          </a:p>
        </p:txBody>
      </p:sp>
      <p:sp>
        <p:nvSpPr>
          <p:cNvPr id="6" name="cover-title-1">
            <a:extLst xmlns:a="http://schemas.openxmlformats.org/drawingml/2006/main">
              <a:ext uri="{FF2B5EF4-FFF2-40B4-BE49-F238E27FC236}">
                <a16:creationId xmlns:a16="http://schemas.microsoft.com/office/drawing/2014/main" id="{A7E901BF-89D6-4A24-A9D0-67205F8F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76350"/>
            <a:ext cx="98679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EAF4EB"/>
                </a:solidFill>
              </a:defRPr>
            </a:pPr>
            <a:r>
              <a:rPr sz="7350" b="1">
                <a:solidFill>
                  <a:srgbClr val="EAF4EB"/>
                </a:solidFill>
              </a:rPr>
              <a:t>Enterprise Drone Division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04FE4D9-7913-4F9D-87D4-EF29758E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5334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2DA93"/>
                </a:solidFill>
              </a:defRPr>
            </a:pPr>
            <a:r>
              <a:rPr sz="2550" b="1">
                <a:solidFill>
                  <a:srgbClr val="E2DA93"/>
                </a:solidFill>
              </a:rPr>
              <a:t>RDO / R.D. Offutt Farms demo narrative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38278DF-6610-4BB3-9DB6-7BFCD29F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10058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B9C9BC"/>
                </a:solidFill>
              </a:defRPr>
            </a:pPr>
            <a:r>
              <a:rPr sz="2100">
                <a:solidFill>
                  <a:srgbClr val="B9C9BC"/>
                </a:solidFill>
              </a:rPr>
              <a:t>How Harvest helps a large grower build internal Hylio drone application capability: operators, aircraft, SOPs, readiness gates, records, support, and performance.</a:t>
            </a:r>
          </a:p>
        </p:txBody>
      </p:sp>
      <p:sp>
        <p:nvSpPr>
          <p:cNvPr id="9" name="chip-Potatoes">
            <a:extLst xmlns:a="http://schemas.openxmlformats.org/drawingml/2006/main">
              <a:ext uri="{FF2B5EF4-FFF2-40B4-BE49-F238E27FC236}">
                <a16:creationId xmlns:a16="http://schemas.microsoft.com/office/drawing/2014/main" id="{B8B2A6D7-1AD3-432C-9D27-31E86CAE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180975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978">
              <a:alpha val="13333"/>
            </a:srgbClr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92668-27F4-4235-A195-8D5C630B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5775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8E978"/>
                </a:solidFill>
              </a:defRPr>
            </a:pPr>
            <a:r>
              <a:rPr sz="1275" b="1">
                <a:solidFill>
                  <a:srgbClr val="A8E978"/>
                </a:solidFill>
              </a:rPr>
              <a:t>Potatoes</a:t>
            </a:r>
          </a:p>
        </p:txBody>
      </p:sp>
      <p:sp>
        <p:nvSpPr>
          <p:cNvPr id="11" name="chip-Hylio fleet">
            <a:extLst xmlns:a="http://schemas.openxmlformats.org/drawingml/2006/main">
              <a:ext uri="{FF2B5EF4-FFF2-40B4-BE49-F238E27FC236}">
                <a16:creationId xmlns:a16="http://schemas.microsoft.com/office/drawing/2014/main" id="{AF81CE6C-7DD9-44AC-93D4-E786ABAE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81550"/>
            <a:ext cx="180975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978">
              <a:alpha val="13333"/>
            </a:srgbClr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90804-F819-47B4-A366-56A594C2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5775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8E978"/>
                </a:solidFill>
              </a:defRPr>
            </a:pPr>
            <a:r>
              <a:rPr sz="1275" b="1">
                <a:solidFill>
                  <a:srgbClr val="A8E978"/>
                </a:solidFill>
              </a:rPr>
              <a:t>Hylio fleet</a:t>
            </a:r>
          </a:p>
        </p:txBody>
      </p:sp>
      <p:sp>
        <p:nvSpPr>
          <p:cNvPr id="13" name="chip-Readiness gates">
            <a:extLst xmlns:a="http://schemas.openxmlformats.org/drawingml/2006/main">
              <a:ext uri="{FF2B5EF4-FFF2-40B4-BE49-F238E27FC236}">
                <a16:creationId xmlns:a16="http://schemas.microsoft.com/office/drawing/2014/main" id="{13485DF4-D876-464E-922F-50CFCDE7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81550"/>
            <a:ext cx="180975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978">
              <a:alpha val="13333"/>
            </a:srgbClr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D68F8-2AC0-4AB2-92FD-A9ABA6D3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5775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8E978"/>
                </a:solidFill>
              </a:defRPr>
            </a:pPr>
            <a:r>
              <a:rPr sz="1275" b="1">
                <a:solidFill>
                  <a:srgbClr val="A8E978"/>
                </a:solidFill>
              </a:rPr>
              <a:t>Readiness gates</a:t>
            </a:r>
          </a:p>
        </p:txBody>
      </p:sp>
      <p:sp>
        <p:nvSpPr>
          <p:cNvPr id="15" name="cover-command-panel">
            <a:extLst xmlns:a="http://schemas.openxmlformats.org/drawingml/2006/main">
              <a:ext uri="{FF2B5EF4-FFF2-40B4-BE49-F238E27FC236}">
                <a16:creationId xmlns:a16="http://schemas.microsoft.com/office/drawing/2014/main" id="{44DEA867-223B-49DD-BA3B-5DBFA9A8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742950"/>
            <a:ext cx="5505450" cy="4953000"/>
          </a:xfrm>
          <a:prstGeom xmlns:a="http://schemas.openxmlformats.org/drawingml/2006/main" prst="roundRect">
            <a:avLst>
              <a:gd name="adj" fmla="val 3462"/>
            </a:avLst>
          </a:prstGeom>
          <a:solidFill xmlns:a="http://schemas.openxmlformats.org/drawingml/2006/main">
            <a:srgbClr val="14241B"/>
          </a:solidFill>
        </p:spPr>
      </p:sp>
      <p:sp>
        <p:nvSpPr>
          <p:cNvPr id="16" name="chip-1 ready job">
            <a:extLst xmlns:a="http://schemas.openxmlformats.org/drawingml/2006/main">
              <a:ext uri="{FF2B5EF4-FFF2-40B4-BE49-F238E27FC236}">
                <a16:creationId xmlns:a16="http://schemas.microsoft.com/office/drawing/2014/main" id="{95A85FE1-240D-4A49-AE92-5827EF80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1085850"/>
            <a:ext cx="180975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978">
              <a:alpha val="13333"/>
            </a:srgbClr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40159-32E0-43FF-9928-0C0DFAE8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1811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8E978"/>
                </a:solidFill>
              </a:defRPr>
            </a:pPr>
            <a:r>
              <a:rPr sz="1275" b="1">
                <a:solidFill>
                  <a:srgbClr val="A8E978"/>
                </a:solidFill>
              </a:rPr>
              <a:t>1 ready job</a:t>
            </a:r>
          </a:p>
        </p:txBody>
      </p:sp>
      <p:sp>
        <p:nvSpPr>
          <p:cNvPr id="18" name="chip-2 blocked">
            <a:extLst xmlns:a="http://schemas.openxmlformats.org/drawingml/2006/main">
              <a:ext uri="{FF2B5EF4-FFF2-40B4-BE49-F238E27FC236}">
                <a16:creationId xmlns:a16="http://schemas.microsoft.com/office/drawing/2014/main" id="{6FD6B419-6846-4820-A412-7DC8CC9D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085850"/>
            <a:ext cx="180975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8D78">
              <a:alpha val="13333"/>
            </a:srgbClr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F4989-74E2-4116-94CF-09601AE5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11811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08D78"/>
                </a:solidFill>
              </a:defRPr>
            </a:pPr>
            <a:r>
              <a:rPr sz="1275" b="1">
                <a:solidFill>
                  <a:srgbClr val="F08D78"/>
                </a:solidFill>
              </a:rPr>
              <a:t>2 blocked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8D6B08-9516-4E39-AF9D-133ED724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1676400"/>
            <a:ext cx="481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2DA93"/>
                </a:solidFill>
              </a:defRPr>
            </a:pPr>
            <a:r>
              <a:rPr sz="1200" b="1">
                <a:solidFill>
                  <a:srgbClr val="E2DA93"/>
                </a:solidFill>
              </a:rPr>
              <a:t>Operator readiness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BA1C0A-5859-4F80-B8C5-7C57D545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1943100"/>
            <a:ext cx="4819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A8E978"/>
                </a:solidFill>
              </a:defRPr>
            </a:pPr>
            <a:r>
              <a:rPr sz="3900" b="1">
                <a:solidFill>
                  <a:srgbClr val="A8E978"/>
                </a:solidFill>
              </a:rPr>
              <a:t>1 /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DA0050-C389-4941-BFD7-1476D12D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609850"/>
            <a:ext cx="4819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C9BC"/>
                </a:solidFill>
              </a:defRPr>
            </a:pPr>
            <a:r>
              <a:rPr sz="1575">
                <a:solidFill>
                  <a:srgbClr val="B9C9BC"/>
                </a:solidFill>
              </a:rPr>
              <a:t>ready under Harvest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29AD29-22D4-4FC8-8BDC-350DB1F1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086100"/>
            <a:ext cx="481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2DA93"/>
                </a:solidFill>
              </a:defRPr>
            </a:pPr>
            <a:r>
              <a:rPr sz="1200" b="1">
                <a:solidFill>
                  <a:srgbClr val="E2DA93"/>
                </a:solidFill>
              </a:rPr>
              <a:t>Fleet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7C0B38-6F6D-453F-8BB5-37EBD10E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333750"/>
            <a:ext cx="4819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2DA93"/>
                </a:solidFill>
              </a:defRPr>
            </a:pPr>
            <a:r>
              <a:rPr sz="3900" b="1">
                <a:solidFill>
                  <a:srgbClr val="E2DA93"/>
                </a:solidFill>
              </a:rPr>
              <a:t>2 /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79EF06-2FE3-4300-B249-CFD09AA7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000500"/>
            <a:ext cx="4819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C9BC"/>
                </a:solidFill>
              </a:defRPr>
            </a:pPr>
            <a:r>
              <a:rPr sz="1575">
                <a:solidFill>
                  <a:srgbClr val="B9C9BC"/>
                </a:solidFill>
              </a:rPr>
              <a:t>active, verified, unblocked aircraft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CD4DDF-8FA3-471E-B0A1-5A831E64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476750"/>
            <a:ext cx="4819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9C9BC"/>
                </a:solidFill>
              </a:defRPr>
            </a:pPr>
            <a:r>
              <a:rPr sz="1800">
                <a:solidFill>
                  <a:srgbClr val="B9C9BC"/>
                </a:solidFill>
              </a:rPr>
              <a:t>Command center for the internal division RDO owns and Harvest helps operate.</a:t>
            </a:r>
          </a:p>
        </p:txBody>
      </p:sp>
    </p:spTree>
    <p:extLst>
      <p:ext uri="{BB962C8B-B14F-4D97-AF65-F5344CB8AC3E}">
        <p14:creationId xmlns:p14="http://schemas.microsoft.com/office/powerpoint/2010/main" val="176021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base">
            <a:extLst xmlns:a="http://schemas.openxmlformats.org/drawingml/2006/main">
              <a:ext uri="{FF2B5EF4-FFF2-40B4-BE49-F238E27FC236}">
                <a16:creationId xmlns:a16="http://schemas.microsoft.com/office/drawing/2014/main" id="{B7B7738B-2329-4CA9-804A-E14BFC81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</p:spPr>
      </p:sp>
      <p:sp>
        <p:nvSpPr>
          <p:cNvPr id="2" name="bg-band">
            <a:extLst xmlns:a="http://schemas.openxmlformats.org/drawingml/2006/main">
              <a:ext uri="{FF2B5EF4-FFF2-40B4-BE49-F238E27FC236}">
                <a16:creationId xmlns:a16="http://schemas.microsoft.com/office/drawing/2014/main" id="{7A7EC3A4-71C2-442B-B94D-BE0E3561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4"/>
          </a:solidFill>
        </p:spPr>
      </p:sp>
      <p:sp>
        <p:nvSpPr>
          <p:cNvPr id="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F40C65F7-EE30-4F66-801C-D67D094C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4" name="field-line">
            <a:extLst xmlns:a="http://schemas.openxmlformats.org/drawingml/2006/main">
              <a:ext uri="{FF2B5EF4-FFF2-40B4-BE49-F238E27FC236}">
                <a16:creationId xmlns:a16="http://schemas.microsoft.com/office/drawing/2014/main" id="{3E72CEB1-5F6A-437B-88CB-59714CE6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5"/>
          </a:solidFill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0EFD8101-D127-4EF7-B33B-FECA5C19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2DA93"/>
                </a:solidFill>
              </a:defRPr>
            </a:pPr>
            <a:r>
              <a:rPr sz="1350" b="1">
                <a:solidFill>
                  <a:srgbClr val="E2DA93"/>
                </a:solidFill>
              </a:rPr>
              <a:t>THE SHIFT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E04DB6-2B34-4530-8951-645328FC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10299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EAF4EB"/>
                </a:solidFill>
              </a:defRPr>
            </a:pPr>
            <a:r>
              <a:rPr sz="4950" b="1">
                <a:solidFill>
                  <a:srgbClr val="EAF4EB"/>
                </a:solidFill>
              </a:rPr>
              <a:t>From custom applicator to division builder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C75A88A-3906-487A-B137-8E5D1BAA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9753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B9C9BC"/>
                </a:solidFill>
              </a:defRPr>
            </a:pPr>
            <a:r>
              <a:rPr sz="2100">
                <a:solidFill>
                  <a:srgbClr val="B9C9BC"/>
                </a:solidFill>
              </a:rPr>
              <a:t>The buying conversation changes when Harvest is not selling acres sprayed. It is selling the operating capability to make drone application internal, repeatable, and auditable.</a:t>
            </a:r>
          </a:p>
        </p:txBody>
      </p:sp>
      <p:sp>
        <p:nvSpPr>
          <p:cNvPr id="8" name="old-model">
            <a:extLst xmlns:a="http://schemas.openxmlformats.org/drawingml/2006/main">
              <a:ext uri="{FF2B5EF4-FFF2-40B4-BE49-F238E27FC236}">
                <a16:creationId xmlns:a16="http://schemas.microsoft.com/office/drawing/2014/main" id="{A5CABEDA-E696-45F4-A31D-9C872760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3330"/>
            <a:ext cx="8020050" cy="5760720"/>
          </a:xfrm>
          <a:prstGeom xmlns:a="http://schemas.openxmlformats.org/drawingml/2006/main" prst="roundRect">
            <a:avLst>
              <a:gd name="adj" fmla="val 2646"/>
            </a:avLst>
          </a:prstGeom>
          <a:solidFill xmlns:a="http://schemas.openxmlformats.org/drawingml/2006/main">
            <a:srgbClr val="17201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DC238-E8C2-4AA7-8940-1A648A99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7372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E9485"/>
                </a:solidFill>
              </a:defRPr>
            </a:pPr>
            <a:r>
              <a:rPr sz="1800" b="1">
                <a:solidFill>
                  <a:srgbClr val="7E9485"/>
                </a:solidFill>
              </a:rPr>
              <a:t>Old frame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D04DD-D48A-4344-974A-D1C70387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7372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/>
            </a:pPr>
            <a:r>
              <a:rPr sz="4050" b="1"/>
              <a:t>Can you spray these acres?</a:t>
            </a:r>
          </a:p>
        </p:txBody>
      </p:sp>
      <p:sp>
        <p:nvSpPr>
          <p:cNvPr id="11" name="old-bullets-dot-0">
            <a:extLst xmlns:a="http://schemas.openxmlformats.org/drawingml/2006/main">
              <a:ext uri="{FF2B5EF4-FFF2-40B4-BE49-F238E27FC236}">
                <a16:creationId xmlns:a16="http://schemas.microsoft.com/office/drawing/2014/main" id="{B1395566-2097-434B-9729-86A0CC82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72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9859C-3F17-41C5-8A7C-C53F0630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7210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Transactional</a:t>
            </a:r>
          </a:p>
        </p:txBody>
      </p:sp>
      <p:sp>
        <p:nvSpPr>
          <p:cNvPr id="13" name="old-bullets-dot-1">
            <a:extLst xmlns:a="http://schemas.openxmlformats.org/drawingml/2006/main">
              <a:ext uri="{FF2B5EF4-FFF2-40B4-BE49-F238E27FC236}">
                <a16:creationId xmlns:a16="http://schemas.microsoft.com/office/drawing/2014/main" id="{015DDEA8-F2F6-49DA-A53C-4B73B53F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48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8FB61-2138-4167-84B3-A3FBDABB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4835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Capacity constrained</a:t>
            </a:r>
          </a:p>
        </p:txBody>
      </p:sp>
      <p:sp>
        <p:nvSpPr>
          <p:cNvPr id="15" name="old-bullets-dot-2">
            <a:extLst xmlns:a="http://schemas.openxmlformats.org/drawingml/2006/main">
              <a:ext uri="{FF2B5EF4-FFF2-40B4-BE49-F238E27FC236}">
                <a16:creationId xmlns:a16="http://schemas.microsoft.com/office/drawing/2014/main" id="{6F0DAC5B-9F2D-46EC-B233-71447D36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305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FA418-DD3B-4A4D-BC1F-AF95F18A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0555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Harder to defend price</a:t>
            </a:r>
          </a:p>
        </p:txBody>
      </p:sp>
      <p:sp>
        <p:nvSpPr>
          <p:cNvPr id="17" name="new-model">
            <a:extLst xmlns:a="http://schemas.openxmlformats.org/drawingml/2006/main">
              <a:ext uri="{FF2B5EF4-FFF2-40B4-BE49-F238E27FC236}">
                <a16:creationId xmlns:a16="http://schemas.microsoft.com/office/drawing/2014/main" id="{723F2CC1-931E-4B0D-AF6F-9AD37F3F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83330"/>
            <a:ext cx="8020050" cy="5760720"/>
          </a:xfrm>
          <a:prstGeom xmlns:a="http://schemas.openxmlformats.org/drawingml/2006/main" prst="roundRect">
            <a:avLst>
              <a:gd name="adj" fmla="val 2646"/>
            </a:avLst>
          </a:prstGeom>
          <a:solidFill xmlns:a="http://schemas.openxmlformats.org/drawingml/2006/main">
            <a:srgbClr val="1B3023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2411E-B982-41BF-9C5E-6C0B69C8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14800"/>
            <a:ext cx="7372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2DA93"/>
                </a:solidFill>
              </a:defRPr>
            </a:pPr>
            <a:r>
              <a:rPr sz="1800" b="1">
                <a:solidFill>
                  <a:srgbClr val="E2DA93"/>
                </a:solidFill>
              </a:rPr>
              <a:t>New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5DD83-10C3-4C1D-85E2-CBB098C9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72000"/>
            <a:ext cx="73723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A8E978"/>
                </a:solidFill>
              </a:defRPr>
            </a:pPr>
            <a:r>
              <a:rPr sz="4050" b="1">
                <a:solidFill>
                  <a:srgbClr val="A8E978"/>
                </a:solidFill>
              </a:rPr>
              <a:t>Can you help us build the division?</a:t>
            </a:r>
          </a:p>
        </p:txBody>
      </p:sp>
      <p:sp>
        <p:nvSpPr>
          <p:cNvPr id="20" name="new-bullets-dot-0">
            <a:extLst xmlns:a="http://schemas.openxmlformats.org/drawingml/2006/main">
              <a:ext uri="{FF2B5EF4-FFF2-40B4-BE49-F238E27FC236}">
                <a16:creationId xmlns:a16="http://schemas.microsoft.com/office/drawing/2014/main" id="{131C6AE9-F7D5-4BE3-8D74-FD2AE0BF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000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7BF187-94E6-419C-9F1A-DC20F091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00075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Implementation + OS</a:t>
            </a:r>
          </a:p>
        </p:txBody>
      </p:sp>
      <p:sp>
        <p:nvSpPr>
          <p:cNvPr id="22" name="new-bullets-dot-1">
            <a:extLst xmlns:a="http://schemas.openxmlformats.org/drawingml/2006/main">
              <a:ext uri="{FF2B5EF4-FFF2-40B4-BE49-F238E27FC236}">
                <a16:creationId xmlns:a16="http://schemas.microsoft.com/office/drawing/2014/main" id="{9F446C61-B720-4AB3-9CBD-BA6DC978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457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1748D9-BC7A-42F9-A431-A2E63879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45795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Training and support workflow</a:t>
            </a:r>
          </a:p>
        </p:txBody>
      </p:sp>
      <p:sp>
        <p:nvSpPr>
          <p:cNvPr id="24" name="new-bullets-dot-2">
            <a:extLst xmlns:a="http://schemas.openxmlformats.org/drawingml/2006/main">
              <a:ext uri="{FF2B5EF4-FFF2-40B4-BE49-F238E27FC236}">
                <a16:creationId xmlns:a16="http://schemas.microsoft.com/office/drawing/2014/main" id="{BD93CC7C-72D6-4C61-BE2B-3DF34486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915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33D222-6516-4592-8123-5234013B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91515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Records, reporting, and readiness governance</a:t>
            </a:r>
          </a:p>
        </p:txBody>
      </p:sp>
    </p:spTree>
    <p:extLst>
      <p:ext uri="{BB962C8B-B14F-4D97-AF65-F5344CB8AC3E}">
        <p14:creationId xmlns:p14="http://schemas.microsoft.com/office/powerpoint/2010/main" val="15201398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base">
            <a:extLst xmlns:a="http://schemas.openxmlformats.org/drawingml/2006/main">
              <a:ext uri="{FF2B5EF4-FFF2-40B4-BE49-F238E27FC236}">
                <a16:creationId xmlns:a16="http://schemas.microsoft.com/office/drawing/2014/main" id="{5D04A802-0301-4E5D-B846-C4DBE6F6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</p:spPr>
      </p:sp>
      <p:sp>
        <p:nvSpPr>
          <p:cNvPr id="2" name="bg-band">
            <a:extLst xmlns:a="http://schemas.openxmlformats.org/drawingml/2006/main">
              <a:ext uri="{FF2B5EF4-FFF2-40B4-BE49-F238E27FC236}">
                <a16:creationId xmlns:a16="http://schemas.microsoft.com/office/drawing/2014/main" id="{67C7E5F2-0D66-4C99-AE50-6EDEC0DA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4"/>
          </a:solidFill>
        </p:spPr>
      </p:sp>
      <p:sp>
        <p:nvSpPr>
          <p:cNvPr id="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49C805F9-E954-4D52-B3F0-98798F80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4" name="field-line">
            <a:extLst xmlns:a="http://schemas.openxmlformats.org/drawingml/2006/main">
              <a:ext uri="{FF2B5EF4-FFF2-40B4-BE49-F238E27FC236}">
                <a16:creationId xmlns:a16="http://schemas.microsoft.com/office/drawing/2014/main" id="{D4175FA4-EA1E-4227-9C09-D202664A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5"/>
          </a:solidFill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58367D22-AFF3-4166-8F44-EDCE2C2E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2DA93"/>
                </a:solidFill>
              </a:defRPr>
            </a:pPr>
            <a:r>
              <a:rPr sz="1350" b="1">
                <a:solidFill>
                  <a:srgbClr val="E2DA93"/>
                </a:solidFill>
              </a:rPr>
              <a:t>RDO USE CASE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AAA26C-D593-4823-8EAC-EF070F46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16586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EAF4EB"/>
                </a:solidFill>
              </a:defRPr>
            </a:pPr>
            <a:r>
              <a:rPr sz="4950" b="1">
                <a:solidFill>
                  <a:srgbClr val="EAF4EB"/>
                </a:solidFill>
              </a:rPr>
              <a:t>A potato operation needs a command center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E44C63C-934B-4342-AD44-020110F1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0496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B9C9BC"/>
                </a:solidFill>
              </a:defRPr>
            </a:pPr>
            <a:r>
              <a:rPr sz="2100">
                <a:solidFill>
                  <a:srgbClr val="B9C9BC"/>
                </a:solidFill>
              </a:rPr>
              <a:t>RDO is evaluating an internal Hylio drone application division for repeated in-season potato spray windows across locations and states.</a:t>
            </a:r>
          </a:p>
        </p:txBody>
      </p:sp>
      <p:sp>
        <p:nvSpPr>
          <p:cNvPr id="8" name="scenario-bullets-dot-0">
            <a:extLst xmlns:a="http://schemas.openxmlformats.org/drawingml/2006/main">
              <a:ext uri="{FF2B5EF4-FFF2-40B4-BE49-F238E27FC236}">
                <a16:creationId xmlns:a16="http://schemas.microsoft.com/office/drawing/2014/main" id="{A4C7FD56-2124-4D0D-86AB-76E842AA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68333-C0EA-4612-B084-DD66721F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8782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Identify the right spray window before field conditions close.</a:t>
            </a:r>
          </a:p>
        </p:txBody>
      </p:sp>
      <p:sp>
        <p:nvSpPr>
          <p:cNvPr id="10" name="scenario-bullets-dot-1">
            <a:extLst xmlns:a="http://schemas.openxmlformats.org/drawingml/2006/main">
              <a:ext uri="{FF2B5EF4-FFF2-40B4-BE49-F238E27FC236}">
                <a16:creationId xmlns:a16="http://schemas.microsoft.com/office/drawing/2014/main" id="{E5DC8B75-7A50-4D11-8F5E-02A87028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47E9B-42A3-457E-A7EF-1257D0B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8782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Confirm the operator is Harvest-qualified for aircraft, payload, state, and job type.</a:t>
            </a:r>
          </a:p>
        </p:txBody>
      </p:sp>
      <p:sp>
        <p:nvSpPr>
          <p:cNvPr id="12" name="scenario-bullets-dot-2">
            <a:extLst xmlns:a="http://schemas.openxmlformats.org/drawingml/2006/main">
              <a:ext uri="{FF2B5EF4-FFF2-40B4-BE49-F238E27FC236}">
                <a16:creationId xmlns:a16="http://schemas.microsoft.com/office/drawing/2014/main" id="{179A4B78-C4D4-41C8-87F9-30705DCB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47414-0A6C-4064-B09F-5953203E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05350"/>
            <a:ext cx="8782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Confirm aircraft readiness, calibration, batteries, Remote ID, and maintenance state.</a:t>
            </a:r>
          </a:p>
        </p:txBody>
      </p:sp>
      <p:sp>
        <p:nvSpPr>
          <p:cNvPr id="14" name="scenario-bullets-dot-3">
            <a:extLst xmlns:a="http://schemas.openxmlformats.org/drawingml/2006/main">
              <a:ext uri="{FF2B5EF4-FFF2-40B4-BE49-F238E27FC236}">
                <a16:creationId xmlns:a16="http://schemas.microsoft.com/office/drawing/2014/main" id="{4ADFECCF-A3AB-496F-AF5F-10C050F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EB87F-64AA-46DF-A96F-2CFF8B7E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62550"/>
            <a:ext cx="8782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Block unsafe or non-compliant assignments before dispatch.</a:t>
            </a:r>
          </a:p>
        </p:txBody>
      </p:sp>
      <p:sp>
        <p:nvSpPr>
          <p:cNvPr id="16" name="field-map">
            <a:extLst xmlns:a="http://schemas.openxmlformats.org/drawingml/2006/main">
              <a:ext uri="{FF2B5EF4-FFF2-40B4-BE49-F238E27FC236}">
                <a16:creationId xmlns:a16="http://schemas.microsoft.com/office/drawing/2014/main" id="{D726EF6D-CD41-424A-BE29-907B3C7F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783330"/>
            <a:ext cx="7010400" cy="53340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14241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84910-26BE-4134-8B8D-E430FAFD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076700"/>
            <a:ext cx="643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2DA93"/>
                </a:solidFill>
              </a:defRPr>
            </a:pPr>
            <a:r>
              <a:rPr sz="1650" b="1">
                <a:solidFill>
                  <a:srgbClr val="E2DA93"/>
                </a:solidFill>
              </a:rPr>
              <a:t>RDO demo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3CAEC-019C-4510-BBFA-8C8D0E56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495800"/>
            <a:ext cx="6438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2DA93"/>
                </a:solidFill>
              </a:defRPr>
            </a:pPr>
            <a:r>
              <a:rPr sz="1200" b="1">
                <a:solidFill>
                  <a:srgbClr val="E2DA93"/>
                </a:solidFill>
              </a:rPr>
              <a:t>Crop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B8CC1-866A-4B11-A969-E6FB0EAC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743450"/>
            <a:ext cx="6438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A8E978"/>
                </a:solidFill>
              </a:defRPr>
            </a:pPr>
            <a:r>
              <a:rPr sz="3900" b="1">
                <a:solidFill>
                  <a:srgbClr val="A8E978"/>
                </a:solidFill>
              </a:rPr>
              <a:t>Potatoes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90CFF9-5298-49BA-BC5F-EC9F1D05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429250"/>
            <a:ext cx="6438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C9BC"/>
                </a:solidFill>
              </a:defRPr>
            </a:pPr>
            <a:r>
              <a:rPr sz="1575">
                <a:solidFill>
                  <a:srgbClr val="B9C9BC"/>
                </a:solidFill>
              </a:rPr>
              <a:t>in-season application windows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CBF5B0-423F-480C-96E7-72E8E76E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829300"/>
            <a:ext cx="6438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2DA93"/>
                </a:solidFill>
              </a:defRPr>
            </a:pPr>
            <a:r>
              <a:rPr sz="1200" b="1">
                <a:solidFill>
                  <a:srgbClr val="E2DA93"/>
                </a:solidFill>
              </a:rPr>
              <a:t>Locations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A07A3-0386-45A9-BE4A-E329B546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096000"/>
            <a:ext cx="6438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A8E978"/>
                </a:solidFill>
              </a:defRPr>
            </a:pPr>
            <a:r>
              <a:rPr sz="3900" b="1">
                <a:solidFill>
                  <a:srgbClr val="A8E978"/>
                </a:solidFill>
              </a:rPr>
              <a:t>ND + MN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F6579D-31C5-4158-812B-4F5B05C2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762750"/>
            <a:ext cx="6438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C9BC"/>
                </a:solidFill>
              </a:defRPr>
            </a:pPr>
            <a:r>
              <a:rPr sz="1575">
                <a:solidFill>
                  <a:srgbClr val="B9C9BC"/>
                </a:solidFill>
              </a:rPr>
              <a:t>state-aware requirements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789D6D-FD09-4ED9-A9FB-238184E6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7181850"/>
            <a:ext cx="6438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2DA93"/>
                </a:solidFill>
              </a:defRPr>
            </a:pPr>
            <a:r>
              <a:rPr sz="1200" b="1">
                <a:solidFill>
                  <a:srgbClr val="E2DA93"/>
                </a:solidFill>
              </a:rPr>
              <a:t>Fleet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32212C-5A46-444C-AF68-C458EC03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7429500"/>
            <a:ext cx="6438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A8E978"/>
                </a:solidFill>
              </a:defRPr>
            </a:pPr>
            <a:r>
              <a:rPr sz="3900" b="1">
                <a:solidFill>
                  <a:srgbClr val="A8E978"/>
                </a:solidFill>
              </a:rPr>
              <a:t>Hylio examples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507CF6-7B3D-4224-B0BA-DAE2735B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8096250"/>
            <a:ext cx="6438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C9BC"/>
                </a:solidFill>
              </a:defRPr>
            </a:pPr>
            <a:r>
              <a:rPr sz="1575">
                <a:solidFill>
                  <a:srgbClr val="B9C9BC"/>
                </a:solidFill>
              </a:rPr>
              <a:t>readiness states and support tickets</a:t>
            </a:r>
          </a:p>
        </p:txBody>
      </p:sp>
    </p:spTree>
    <p:extLst>
      <p:ext uri="{BB962C8B-B14F-4D97-AF65-F5344CB8AC3E}">
        <p14:creationId xmlns:p14="http://schemas.microsoft.com/office/powerpoint/2010/main" val="21039601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base">
            <a:extLst xmlns:a="http://schemas.openxmlformats.org/drawingml/2006/main">
              <a:ext uri="{FF2B5EF4-FFF2-40B4-BE49-F238E27FC236}">
                <a16:creationId xmlns:a16="http://schemas.microsoft.com/office/drawing/2014/main" id="{46213419-5E98-4677-AF92-050E1E54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</p:spPr>
      </p:sp>
      <p:sp>
        <p:nvSpPr>
          <p:cNvPr id="2" name="bg-band">
            <a:extLst xmlns:a="http://schemas.openxmlformats.org/drawingml/2006/main">
              <a:ext uri="{FF2B5EF4-FFF2-40B4-BE49-F238E27FC236}">
                <a16:creationId xmlns:a16="http://schemas.microsoft.com/office/drawing/2014/main" id="{56BC25DD-DF44-40EB-B643-A341C9F0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4"/>
          </a:solidFill>
        </p:spPr>
      </p:sp>
      <p:sp>
        <p:nvSpPr>
          <p:cNvPr id="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49857120-86C0-41FB-A81E-47E4C025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4" name="field-line">
            <a:extLst xmlns:a="http://schemas.openxmlformats.org/drawingml/2006/main">
              <a:ext uri="{FF2B5EF4-FFF2-40B4-BE49-F238E27FC236}">
                <a16:creationId xmlns:a16="http://schemas.microsoft.com/office/drawing/2014/main" id="{435F8552-61E9-41F1-93E1-D125DB26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5"/>
          </a:solidFill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25387F96-B155-4349-99F0-89526266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2DA93"/>
                </a:solidFill>
              </a:defRPr>
            </a:pPr>
            <a:r>
              <a:rPr sz="1350" b="1">
                <a:solidFill>
                  <a:srgbClr val="E2DA93"/>
                </a:solidFill>
              </a:rPr>
              <a:t>LIVE DEMO FLOW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BB84F7-6C31-47E6-832D-CA2E799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00584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EAF4EB"/>
                </a:solidFill>
              </a:defRPr>
            </a:pPr>
            <a:r>
              <a:rPr sz="4950" b="1">
                <a:solidFill>
                  <a:srgbClr val="EAF4EB"/>
                </a:solidFill>
              </a:rPr>
              <a:t>Show the evaluator the operating loop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BB29AD2-8BBF-47E7-93AA-BD44877E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0344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B9C9BC"/>
                </a:solidFill>
              </a:defRPr>
            </a:pPr>
            <a:r>
              <a:rPr sz="2100">
                <a:solidFill>
                  <a:srgbClr val="B9C9BC"/>
                </a:solidFill>
              </a:rPr>
              <a:t>The demo should feel like the RDO operations team is deciding whether a real spray assignment can safely move today.</a:t>
            </a:r>
          </a:p>
        </p:txBody>
      </p:sp>
      <p:sp>
        <p:nvSpPr>
          <p:cNvPr id="8" name="flow-1">
            <a:extLst xmlns:a="http://schemas.openxmlformats.org/drawingml/2006/main">
              <a:ext uri="{FF2B5EF4-FFF2-40B4-BE49-F238E27FC236}">
                <a16:creationId xmlns:a16="http://schemas.microsoft.com/office/drawing/2014/main" id="{2A7A743A-43E8-4AB8-9E40-A4577E91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3330"/>
            <a:ext cx="5308600" cy="2766060"/>
          </a:xfrm>
          <a:prstGeom xmlns:a="http://schemas.openxmlformats.org/drawingml/2006/main" prst="roundRect">
            <a:avLst>
              <a:gd name="adj" fmla="val 4821"/>
            </a:avLst>
          </a:prstGeom>
          <a:solidFill xmlns:a="http://schemas.openxmlformats.org/drawingml/2006/main">
            <a:srgbClr val="14241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25A8F-35F8-43EB-815F-320A91B4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4819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A8E978"/>
                </a:solidFill>
              </a:defRPr>
            </a:pPr>
            <a:r>
              <a:rPr sz="4050" b="1">
                <a:solidFill>
                  <a:srgbClr val="A8E97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BABE6-8158-4508-925B-011C0B1A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81550"/>
            <a:ext cx="4819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/>
            </a:pPr>
            <a:r>
              <a:rPr sz="2250" b="1"/>
              <a:t>Open division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E0074-58AF-4F89-9810-60CE8334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7800"/>
            <a:ext cx="4819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2DA93"/>
                </a:solidFill>
              </a:defRPr>
            </a:pPr>
            <a:r>
              <a:rPr sz="1575">
                <a:solidFill>
                  <a:srgbClr val="E2DA93"/>
                </a:solidFill>
              </a:rPr>
              <a:t>/enterprise/rdo/division</a:t>
            </a:r>
          </a:p>
        </p:txBody>
      </p:sp>
      <p:sp>
        <p:nvSpPr>
          <p:cNvPr id="12" name="flow-2">
            <a:extLst xmlns:a="http://schemas.openxmlformats.org/drawingml/2006/main">
              <a:ext uri="{FF2B5EF4-FFF2-40B4-BE49-F238E27FC236}">
                <a16:creationId xmlns:a16="http://schemas.microsoft.com/office/drawing/2014/main" id="{66B6BB6F-8FD1-4B9D-9B9E-F01F490F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3783330"/>
            <a:ext cx="5308600" cy="2766060"/>
          </a:xfrm>
          <a:prstGeom xmlns:a="http://schemas.openxmlformats.org/drawingml/2006/main" prst="roundRect">
            <a:avLst>
              <a:gd name="adj" fmla="val 4821"/>
            </a:avLst>
          </a:prstGeom>
          <a:solidFill xmlns:a="http://schemas.openxmlformats.org/drawingml/2006/main">
            <a:srgbClr val="14241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5DDF2-1B37-4338-80C4-7CFAB671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38600"/>
            <a:ext cx="4819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A8E978"/>
                </a:solidFill>
              </a:defRPr>
            </a:pPr>
            <a:r>
              <a:rPr sz="4050" b="1">
                <a:solidFill>
                  <a:srgbClr val="A8E97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AB858-7A60-4512-910C-A9BF6232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81550"/>
            <a:ext cx="4819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/>
            </a:pPr>
            <a:r>
              <a:rPr sz="2250" b="1"/>
              <a:t>Review spray calendar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A108F-DB8E-43DF-9953-3B87E8AD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57800"/>
            <a:ext cx="4819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2DA93"/>
                </a:solidFill>
              </a:defRPr>
            </a:pPr>
            <a:r>
              <a:rPr sz="1575">
                <a:solidFill>
                  <a:srgbClr val="E2DA93"/>
                </a:solidFill>
              </a:rPr>
              <a:t>/enterprise/rdo/spray-calendar</a:t>
            </a:r>
          </a:p>
        </p:txBody>
      </p:sp>
      <p:sp>
        <p:nvSpPr>
          <p:cNvPr id="16" name="flow-3">
            <a:extLst xmlns:a="http://schemas.openxmlformats.org/drawingml/2006/main">
              <a:ext uri="{FF2B5EF4-FFF2-40B4-BE49-F238E27FC236}">
                <a16:creationId xmlns:a16="http://schemas.microsoft.com/office/drawing/2014/main" id="{1AB1FDFF-9169-492F-BA78-69ED961F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3783330"/>
            <a:ext cx="5308600" cy="2766060"/>
          </a:xfrm>
          <a:prstGeom xmlns:a="http://schemas.openxmlformats.org/drawingml/2006/main" prst="roundRect">
            <a:avLst>
              <a:gd name="adj" fmla="val 4821"/>
            </a:avLst>
          </a:prstGeom>
          <a:solidFill xmlns:a="http://schemas.openxmlformats.org/drawingml/2006/main">
            <a:srgbClr val="14241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5D86A-88F8-4A1B-B92B-7A35E0B9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038600"/>
            <a:ext cx="4819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A8E978"/>
                </a:solidFill>
              </a:defRPr>
            </a:pPr>
            <a:r>
              <a:rPr sz="4050" b="1">
                <a:solidFill>
                  <a:srgbClr val="A8E97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92F2E-285C-41B2-BC80-0B990BF2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781550"/>
            <a:ext cx="4819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/>
            </a:pPr>
            <a:r>
              <a:rPr sz="2250" b="1"/>
              <a:t>Open readiness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3B2A5-131A-4D03-AB76-52F2D5D7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257800"/>
            <a:ext cx="4819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2DA93"/>
                </a:solidFill>
              </a:defRPr>
            </a:pPr>
            <a:r>
              <a:rPr sz="1575">
                <a:solidFill>
                  <a:srgbClr val="E2DA93"/>
                </a:solidFill>
              </a:rPr>
              <a:t>/enterprise/rdo/readiness</a:t>
            </a:r>
          </a:p>
        </p:txBody>
      </p:sp>
      <p:sp>
        <p:nvSpPr>
          <p:cNvPr id="20" name="flow-4">
            <a:extLst xmlns:a="http://schemas.openxmlformats.org/drawingml/2006/main">
              <a:ext uri="{FF2B5EF4-FFF2-40B4-BE49-F238E27FC236}">
                <a16:creationId xmlns:a16="http://schemas.microsoft.com/office/drawing/2014/main" id="{AFA46BBC-65D5-444F-BC4B-072FF973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77990"/>
            <a:ext cx="5308600" cy="2766060"/>
          </a:xfrm>
          <a:prstGeom xmlns:a="http://schemas.openxmlformats.org/drawingml/2006/main" prst="roundRect">
            <a:avLst>
              <a:gd name="adj" fmla="val 4821"/>
            </a:avLst>
          </a:prstGeom>
          <a:solidFill xmlns:a="http://schemas.openxmlformats.org/drawingml/2006/main">
            <a:srgbClr val="14241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A70BF-2ACC-46A6-A675-2927BFE6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029450"/>
            <a:ext cx="4819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A8E978"/>
                </a:solidFill>
              </a:defRPr>
            </a:pPr>
            <a:r>
              <a:rPr sz="4050" b="1">
                <a:solidFill>
                  <a:srgbClr val="A8E97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974119-344C-42E6-BCD2-C72D616F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772400"/>
            <a:ext cx="4819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/>
            </a:pPr>
            <a:r>
              <a:rPr sz="2250" b="1"/>
              <a:t>Inspect operator + fleet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4D1E50-1546-4072-A40E-EE97BA49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248650"/>
            <a:ext cx="4819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2DA93"/>
                </a:solidFill>
              </a:defRPr>
            </a:pPr>
            <a:r>
              <a:rPr sz="1575">
                <a:solidFill>
                  <a:srgbClr val="E2DA93"/>
                </a:solidFill>
              </a:rPr>
              <a:t>/operators and /fleet</a:t>
            </a:r>
          </a:p>
        </p:txBody>
      </p:sp>
      <p:sp>
        <p:nvSpPr>
          <p:cNvPr id="24" name="flow-5">
            <a:extLst xmlns:a="http://schemas.openxmlformats.org/drawingml/2006/main">
              <a:ext uri="{FF2B5EF4-FFF2-40B4-BE49-F238E27FC236}">
                <a16:creationId xmlns:a16="http://schemas.microsoft.com/office/drawing/2014/main" id="{587E7DCA-0E80-4B82-B0BD-B2BE1309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6777990"/>
            <a:ext cx="5308600" cy="2766060"/>
          </a:xfrm>
          <a:prstGeom xmlns:a="http://schemas.openxmlformats.org/drawingml/2006/main" prst="roundRect">
            <a:avLst>
              <a:gd name="adj" fmla="val 4821"/>
            </a:avLst>
          </a:prstGeom>
          <a:solidFill xmlns:a="http://schemas.openxmlformats.org/drawingml/2006/main">
            <a:srgbClr val="14241B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70349E-1DA9-4BB7-A91D-2AB5FD6F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029450"/>
            <a:ext cx="4819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A8E978"/>
                </a:solidFill>
              </a:defRPr>
            </a:pPr>
            <a:r>
              <a:rPr sz="4050" b="1">
                <a:solidFill>
                  <a:srgbClr val="A8E978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7BAF11-AAB6-4C9D-B9F8-2FDF0FCB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772400"/>
            <a:ext cx="4819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/>
            </a:pPr>
            <a:r>
              <a:rPr sz="2250" b="1"/>
              <a:t>View records +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565D9A-749F-4FFE-BF14-DF41848B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8248650"/>
            <a:ext cx="4819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2DA93"/>
                </a:solidFill>
              </a:defRPr>
            </a:pPr>
            <a:r>
              <a:rPr sz="1575">
                <a:solidFill>
                  <a:srgbClr val="E2DA93"/>
                </a:solidFill>
              </a:rPr>
              <a:t>/application-records and /support</a:t>
            </a:r>
          </a:p>
        </p:txBody>
      </p:sp>
      <p:sp>
        <p:nvSpPr>
          <p:cNvPr id="28" name="flow-6">
            <a:extLst xmlns:a="http://schemas.openxmlformats.org/drawingml/2006/main">
              <a:ext uri="{FF2B5EF4-FFF2-40B4-BE49-F238E27FC236}">
                <a16:creationId xmlns:a16="http://schemas.microsoft.com/office/drawing/2014/main" id="{1CE473A8-DFB9-404A-8E29-A1079E05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6777990"/>
            <a:ext cx="5308600" cy="2766060"/>
          </a:xfrm>
          <a:prstGeom xmlns:a="http://schemas.openxmlformats.org/drawingml/2006/main" prst="roundRect">
            <a:avLst>
              <a:gd name="adj" fmla="val 4821"/>
            </a:avLst>
          </a:prstGeom>
          <a:solidFill xmlns:a="http://schemas.openxmlformats.org/drawingml/2006/main">
            <a:srgbClr val="14241B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044686-BF19-47C9-AB57-EBA734DD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7029450"/>
            <a:ext cx="4819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A8E978"/>
                </a:solidFill>
              </a:defRPr>
            </a:pPr>
            <a:r>
              <a:rPr sz="4050" b="1">
                <a:solidFill>
                  <a:srgbClr val="A8E978"/>
                </a:solidFill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EF4F2A-921C-4728-8FA7-EBC1A0BD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7772400"/>
            <a:ext cx="4819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/>
            </a:pPr>
            <a:r>
              <a:rPr sz="2250" b="1"/>
              <a:t>Close with performance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58AF63-97BD-4E9C-989A-592A9194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8248650"/>
            <a:ext cx="4819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2DA93"/>
                </a:solidFill>
              </a:defRPr>
            </a:pPr>
            <a:r>
              <a:rPr sz="1575">
                <a:solidFill>
                  <a:srgbClr val="E2DA93"/>
                </a:solidFill>
              </a:rPr>
              <a:t>/performance</a:t>
            </a:r>
          </a:p>
        </p:txBody>
      </p:sp>
    </p:spTree>
    <p:extLst>
      <p:ext uri="{BB962C8B-B14F-4D97-AF65-F5344CB8AC3E}">
        <p14:creationId xmlns:p14="http://schemas.microsoft.com/office/powerpoint/2010/main" val="4860785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base">
            <a:extLst xmlns:a="http://schemas.openxmlformats.org/drawingml/2006/main">
              <a:ext uri="{FF2B5EF4-FFF2-40B4-BE49-F238E27FC236}">
                <a16:creationId xmlns:a16="http://schemas.microsoft.com/office/drawing/2014/main" id="{9FB2F53A-A4B1-4C55-AE86-81DF1BCE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</p:spPr>
      </p:sp>
      <p:sp>
        <p:nvSpPr>
          <p:cNvPr id="2" name="bg-band">
            <a:extLst xmlns:a="http://schemas.openxmlformats.org/drawingml/2006/main">
              <a:ext uri="{FF2B5EF4-FFF2-40B4-BE49-F238E27FC236}">
                <a16:creationId xmlns:a16="http://schemas.microsoft.com/office/drawing/2014/main" id="{20EA95EB-B0FC-4DA4-825B-467E0A34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4"/>
          </a:solidFill>
        </p:spPr>
      </p:sp>
      <p:sp>
        <p:nvSpPr>
          <p:cNvPr id="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7960EAE2-8B9A-4098-B8A5-D682EB6F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4" name="field-line">
            <a:extLst xmlns:a="http://schemas.openxmlformats.org/drawingml/2006/main">
              <a:ext uri="{FF2B5EF4-FFF2-40B4-BE49-F238E27FC236}">
                <a16:creationId xmlns:a16="http://schemas.microsoft.com/office/drawing/2014/main" id="{EB69FEF1-2FF9-4151-8AA3-24C80904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5"/>
          </a:solidFill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007DDF67-92A7-4159-8659-8C15E0B5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2DA93"/>
                </a:solidFill>
              </a:defRPr>
            </a:pPr>
            <a:r>
              <a:rPr sz="1350" b="1">
                <a:solidFill>
                  <a:srgbClr val="E2DA93"/>
                </a:solidFill>
              </a:rPr>
              <a:t>READINESS GATE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6B6206-5CE7-4C53-A7AC-30750EB4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94869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EAF4EB"/>
                </a:solidFill>
              </a:defRPr>
            </a:pPr>
            <a:r>
              <a:rPr sz="4950" b="1">
                <a:solidFill>
                  <a:srgbClr val="EAF4EB"/>
                </a:solidFill>
              </a:rPr>
              <a:t>The money slide: Harvest blocks bad assignments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1C0EF3C-0DBA-47BD-9F6C-4946D1B9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98488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B9C9BC"/>
                </a:solidFill>
              </a:defRPr>
            </a:pPr>
            <a:r>
              <a:rPr sz="2100">
                <a:solidFill>
                  <a:srgbClr val="B9C9BC"/>
                </a:solidFill>
              </a:rPr>
              <a:t>This is where the software stops the demo from becoming a pretty dashboard. It makes the operating decision.</a:t>
            </a:r>
          </a:p>
        </p:txBody>
      </p:sp>
      <p:sp>
        <p:nvSpPr>
          <p:cNvPr id="8" name="blocker-panel">
            <a:extLst xmlns:a="http://schemas.openxmlformats.org/drawingml/2006/main">
              <a:ext uri="{FF2B5EF4-FFF2-40B4-BE49-F238E27FC236}">
                <a16:creationId xmlns:a16="http://schemas.microsoft.com/office/drawing/2014/main" id="{3680B11D-0051-4D69-B609-7BCF0DA8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3330"/>
            <a:ext cx="10096500" cy="576072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2A211C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70FF3-040A-4745-811A-8E6D5D19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9448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DCD6"/>
                </a:solidFill>
              </a:defRPr>
            </a:pPr>
            <a:r>
              <a:rPr sz="2700" b="1">
                <a:solidFill>
                  <a:srgbClr val="FFDCD6"/>
                </a:solidFill>
              </a:rPr>
              <a:t>Cannot assign this job:</a:t>
            </a:r>
          </a:p>
        </p:txBody>
      </p:sp>
      <p:sp>
        <p:nvSpPr>
          <p:cNvPr id="10" name="blocker-list-dot-0">
            <a:extLst xmlns:a="http://schemas.openxmlformats.org/drawingml/2006/main">
              <a:ext uri="{FF2B5EF4-FFF2-40B4-BE49-F238E27FC236}">
                <a16:creationId xmlns:a16="http://schemas.microsoft.com/office/drawing/2014/main" id="{B39C7899-502B-4C62-A97E-C6CB56DB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C6CCB-2C1D-48D7-9E9C-CDD1BB21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86300"/>
            <a:ext cx="918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Hylio practical signoff is incomplete.</a:t>
            </a:r>
          </a:p>
        </p:txBody>
      </p:sp>
      <p:sp>
        <p:nvSpPr>
          <p:cNvPr id="12" name="blocker-list-dot-1">
            <a:extLst xmlns:a="http://schemas.openxmlformats.org/drawingml/2006/main">
              <a:ext uri="{FF2B5EF4-FFF2-40B4-BE49-F238E27FC236}">
                <a16:creationId xmlns:a16="http://schemas.microsoft.com/office/drawing/2014/main" id="{F039AF31-BAC1-4C0A-9DBE-100085C0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7278F-445B-4B3D-821E-C814DFBD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43500"/>
            <a:ext cx="918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North Dakota pesticide applicator credential is missing or not verified.</a:t>
            </a:r>
          </a:p>
        </p:txBody>
      </p:sp>
      <p:sp>
        <p:nvSpPr>
          <p:cNvPr id="14" name="blocker-list-dot-2">
            <a:extLst xmlns:a="http://schemas.openxmlformats.org/drawingml/2006/main">
              <a:ext uri="{FF2B5EF4-FFF2-40B4-BE49-F238E27FC236}">
                <a16:creationId xmlns:a16="http://schemas.microsoft.com/office/drawing/2014/main" id="{5B43F6BE-74C3-4466-A5E6-0DF60A50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05549-7533-432B-8686-D3A5CB12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19750"/>
            <a:ext cx="918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Aircraft calibration is overdue.</a:t>
            </a:r>
          </a:p>
        </p:txBody>
      </p:sp>
      <p:sp>
        <p:nvSpPr>
          <p:cNvPr id="16" name="blocker-list-dot-3">
            <a:extLst xmlns:a="http://schemas.openxmlformats.org/drawingml/2006/main">
              <a:ext uri="{FF2B5EF4-FFF2-40B4-BE49-F238E27FC236}">
                <a16:creationId xmlns:a16="http://schemas.microsoft.com/office/drawing/2014/main" id="{B4DEDE6B-E62D-4FF1-BB36-5E4CE1D9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76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7E657-EF86-48FB-9312-E7262659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76950"/>
            <a:ext cx="918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Battery inspection checklist is incomplete.</a:t>
            </a:r>
          </a:p>
        </p:txBody>
      </p:sp>
      <p:sp>
        <p:nvSpPr>
          <p:cNvPr id="18" name="blocker-list-dot-4">
            <a:extLst xmlns:a="http://schemas.openxmlformats.org/drawingml/2006/main">
              <a:ext uri="{FF2B5EF4-FFF2-40B4-BE49-F238E27FC236}">
                <a16:creationId xmlns:a16="http://schemas.microsoft.com/office/drawing/2014/main" id="{8B82CA6D-DAA1-4F57-8006-5693F333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534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092BC-EBDB-4184-ABBE-E164C652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534150"/>
            <a:ext cx="918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Required SOP checklist and job documents are incomplete.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0C581F-6090-4027-8F50-005317EE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790950"/>
            <a:ext cx="5943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2DA93"/>
                </a:solidFill>
              </a:defRPr>
            </a:pPr>
            <a:r>
              <a:rPr sz="1200" b="1">
                <a:solidFill>
                  <a:srgbClr val="E2DA93"/>
                </a:solidFill>
              </a:rPr>
              <a:t>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6C315-A318-49C1-A259-4AFDDAFC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038600"/>
            <a:ext cx="5943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08D78"/>
                </a:solidFill>
              </a:defRPr>
            </a:pPr>
            <a:r>
              <a:rPr sz="3900" b="1">
                <a:solidFill>
                  <a:srgbClr val="F08D78"/>
                </a:solidFill>
              </a:rPr>
              <a:t>Blocked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65FDE-F214-425F-AED0-3B46BEE0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705350"/>
            <a:ext cx="5943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C9BC"/>
                </a:solidFill>
              </a:defRPr>
            </a:pPr>
            <a:r>
              <a:rPr sz="1575">
                <a:solidFill>
                  <a:srgbClr val="B9C9BC"/>
                </a:solidFill>
              </a:rPr>
              <a:t>not ready under Harvest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34CD7-D5BD-42D8-9209-0B02AA9F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181600"/>
            <a:ext cx="5943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2DA93"/>
                </a:solidFill>
              </a:defRPr>
            </a:pPr>
            <a:r>
              <a:rPr sz="1200" b="1">
                <a:solidFill>
                  <a:srgbClr val="E2DA93"/>
                </a:solidFill>
              </a:rPr>
              <a:t>Why it matters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DCA9B6-B080-4D65-81CF-8494AFF6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448300"/>
            <a:ext cx="5943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2DA93"/>
                </a:solidFill>
              </a:defRPr>
            </a:pPr>
            <a:r>
              <a:rPr sz="3900" b="1">
                <a:solidFill>
                  <a:srgbClr val="E2DA93"/>
                </a:solidFill>
              </a:rPr>
              <a:t>Configurable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E5BFF1-6519-482B-91D5-F78E99D2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15050"/>
            <a:ext cx="5943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C9BC"/>
                </a:solidFill>
              </a:defRPr>
            </a:pPr>
            <a:r>
              <a:rPr sz="1575">
                <a:solidFill>
                  <a:srgbClr val="B9C9BC"/>
                </a:solidFill>
              </a:rPr>
              <a:t>rules vary by state, payload, aircraft, and operation type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122620-5CCA-47AD-BD24-C9C15915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5943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C9BC"/>
                </a:solidFill>
              </a:defRPr>
            </a:pPr>
            <a:r>
              <a:rPr sz="1875">
                <a:solidFill>
                  <a:srgbClr val="B9C9BC"/>
                </a:solidFill>
              </a:rPr>
              <a:t>Harvest tracks and verifies readiness evidence. It does not issue FAA, state, pesticide, or manufacturer certifications.</a:t>
            </a:r>
          </a:p>
        </p:txBody>
      </p:sp>
    </p:spTree>
    <p:extLst>
      <p:ext uri="{BB962C8B-B14F-4D97-AF65-F5344CB8AC3E}">
        <p14:creationId xmlns:p14="http://schemas.microsoft.com/office/powerpoint/2010/main" val="16730176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base">
            <a:extLst xmlns:a="http://schemas.openxmlformats.org/drawingml/2006/main">
              <a:ext uri="{FF2B5EF4-FFF2-40B4-BE49-F238E27FC236}">
                <a16:creationId xmlns:a16="http://schemas.microsoft.com/office/drawing/2014/main" id="{8C7D6005-B3D1-404C-B3BC-6A37946B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</p:spPr>
      </p:sp>
      <p:sp>
        <p:nvSpPr>
          <p:cNvPr id="2" name="bg-band">
            <a:extLst xmlns:a="http://schemas.openxmlformats.org/drawingml/2006/main">
              <a:ext uri="{FF2B5EF4-FFF2-40B4-BE49-F238E27FC236}">
                <a16:creationId xmlns:a16="http://schemas.microsoft.com/office/drawing/2014/main" id="{75128B3B-67D8-48BD-B7C7-6E208D78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4"/>
          </a:solidFill>
        </p:spPr>
      </p:sp>
      <p:sp>
        <p:nvSpPr>
          <p:cNvPr id="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94DCFF34-F80A-44B8-985D-7608E258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4" name="field-line">
            <a:extLst xmlns:a="http://schemas.openxmlformats.org/drawingml/2006/main">
              <a:ext uri="{FF2B5EF4-FFF2-40B4-BE49-F238E27FC236}">
                <a16:creationId xmlns:a16="http://schemas.microsoft.com/office/drawing/2014/main" id="{F3B8DC2D-CB6D-42AE-BF43-650DBC6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5"/>
          </a:solidFill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C4C35645-AB25-449E-8531-6C84EF64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2DA93"/>
                </a:solidFill>
              </a:defRPr>
            </a:pPr>
            <a:r>
              <a:rPr sz="1350" b="1">
                <a:solidFill>
                  <a:srgbClr val="E2DA93"/>
                </a:solidFill>
              </a:rPr>
              <a:t>BLUEPRINT WORKFLOW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9C9844-5BE1-41B5-A9FB-9D33F0F3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14871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EAF4EB"/>
                </a:solidFill>
              </a:defRPr>
            </a:pPr>
            <a:r>
              <a:rPr sz="4950" b="1">
                <a:solidFill>
                  <a:srgbClr val="EAF4EB"/>
                </a:solidFill>
              </a:rPr>
              <a:t>Harvest sells the buildout, not just the spray pass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2ABDB4-2318-44FA-B00E-9FF9BB4B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9486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B9C9BC"/>
                </a:solidFill>
              </a:defRPr>
            </a:pPr>
            <a:r>
              <a:rPr sz="2100">
                <a:solidFill>
                  <a:srgbClr val="B9C9BC"/>
                </a:solidFill>
              </a:rPr>
              <a:t>The Blueprint gives RDO a visible path from concept to live internal operating capability.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9B0A4-14A7-4D7A-BD50-79776468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5314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8E978"/>
                </a:solidFill>
              </a:defRPr>
            </a:pPr>
            <a:r>
              <a:rPr sz="3300" b="1">
                <a:solidFill>
                  <a:srgbClr val="A8E97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2AFF2-19D3-446E-938F-84213F1E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A93"/>
          </a:solidFill>
          <a:ln xmlns:a="http://schemas.openxmlformats.org/drawingml/2006/main" w="0">
            <a:solidFill>
              <a:srgbClr val="E2DA9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191D7-5F0B-4C8E-AEB9-02D0E4CD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5314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/>
            </a:pPr>
            <a:r>
              <a:rPr sz="2325" b="1"/>
              <a:t>Division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2D7A0-78A4-4C77-8216-094C4F3D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5314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DA93"/>
                </a:solidFill>
              </a:defRPr>
            </a:pPr>
            <a:r>
              <a:rPr sz="1650">
                <a:solidFill>
                  <a:srgbClr val="E2DA93"/>
                </a:solidFill>
              </a:rPr>
              <a:t>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52046-57AD-4C51-A6E9-9B9F6BEF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7100"/>
            <a:ext cx="5314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8E978"/>
                </a:solidFill>
              </a:defRPr>
            </a:pPr>
            <a:r>
              <a:rPr sz="3300" b="1">
                <a:solidFill>
                  <a:srgbClr val="A8E97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0E3B0-5E5C-4121-BCAE-6EF3185F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A93"/>
          </a:solidFill>
          <a:ln xmlns:a="http://schemas.openxmlformats.org/drawingml/2006/main" w="0">
            <a:solidFill>
              <a:srgbClr val="E2DA9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16C3C2-837B-4230-90A9-76B4C6CB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5314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/>
            </a:pPr>
            <a:r>
              <a:rPr sz="2325" b="1"/>
              <a:t>Equipment + spares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F6A9E-DCE7-4D18-B21D-F2BF6DA4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05350"/>
            <a:ext cx="5314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DA93"/>
                </a:solidFill>
              </a:defRPr>
            </a:pPr>
            <a:r>
              <a:rPr sz="1650">
                <a:solidFill>
                  <a:srgbClr val="E2DA93"/>
                </a:solidFill>
              </a:rPr>
              <a:t>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396F9-8903-4964-839E-BAED5984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3467100"/>
            <a:ext cx="5314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8E978"/>
                </a:solidFill>
              </a:defRPr>
            </a:pPr>
            <a:r>
              <a:rPr sz="3300" b="1">
                <a:solidFill>
                  <a:srgbClr val="A8E978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770EA-37A8-4D0F-9146-6B9BBC73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0767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A93"/>
          </a:solidFill>
          <a:ln xmlns:a="http://schemas.openxmlformats.org/drawingml/2006/main" w="0">
            <a:solidFill>
              <a:srgbClr val="E2DA9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4390C-7B93-449A-8E83-EDA38F2A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229100"/>
            <a:ext cx="5314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/>
            </a:pPr>
            <a:r>
              <a:rPr sz="2325" b="1"/>
              <a:t>Operator training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3E760-AD6D-4908-84F4-DCCD071D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705350"/>
            <a:ext cx="5314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DA93"/>
                </a:solidFill>
              </a:defRPr>
            </a:pPr>
            <a:r>
              <a:rPr sz="1650">
                <a:solidFill>
                  <a:srgbClr val="E2DA93"/>
                </a:solidFill>
              </a:rPr>
              <a:t>in progress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DEE76-3BA4-4CDE-87B4-3319392A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10350"/>
            <a:ext cx="5314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8E978"/>
                </a:solidFill>
              </a:defRPr>
            </a:pPr>
            <a:r>
              <a:rPr sz="3300" b="1">
                <a:solidFill>
                  <a:srgbClr val="A8E978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D6822B-F803-435F-8C36-4805A995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A93"/>
          </a:solidFill>
          <a:ln xmlns:a="http://schemas.openxmlformats.org/drawingml/2006/main" w="0">
            <a:solidFill>
              <a:srgbClr val="E2DA9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6AF36-579A-456F-8278-963C8782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91400"/>
            <a:ext cx="5314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/>
            </a:pPr>
            <a:r>
              <a:rPr sz="2325" b="1"/>
              <a:t>SOPs + state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8F8D27-B5E7-481A-AA4A-B4009E39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48600"/>
            <a:ext cx="5314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DA93"/>
                </a:solidFill>
              </a:defRPr>
            </a:pPr>
            <a:r>
              <a:rPr sz="1650">
                <a:solidFill>
                  <a:srgbClr val="E2DA93"/>
                </a:solidFill>
              </a:rPr>
              <a:t>in progress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124DD2-95A3-4CC5-8297-E9162747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610350"/>
            <a:ext cx="5314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8E978"/>
                </a:solidFill>
              </a:defRPr>
            </a:pPr>
            <a:r>
              <a:rPr sz="3300" b="1">
                <a:solidFill>
                  <a:srgbClr val="A8E978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A663F5-1DCD-47A0-BCD4-2E8CCDBC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72390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A93"/>
          </a:solidFill>
          <a:ln xmlns:a="http://schemas.openxmlformats.org/drawingml/2006/main" w="0">
            <a:solidFill>
              <a:srgbClr val="E2DA9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A09324-DCC9-4AB8-A585-718ACB93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7391400"/>
            <a:ext cx="5314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/>
            </a:pPr>
            <a:r>
              <a:rPr sz="2325" b="1"/>
              <a:t>Dispatch calendar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3C4B04-5A45-4137-BF9A-BEEC9558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7848600"/>
            <a:ext cx="5314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DA93"/>
                </a:solidFill>
              </a:defRPr>
            </a:pPr>
            <a:r>
              <a:rPr sz="1650">
                <a:solidFill>
                  <a:srgbClr val="E2DA93"/>
                </a:solidFill>
              </a:rPr>
              <a:t>active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7CB638-FBBD-42C6-851C-8055E1B7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6610350"/>
            <a:ext cx="5314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8E978"/>
                </a:solidFill>
              </a:defRPr>
            </a:pPr>
            <a:r>
              <a:rPr sz="3300" b="1">
                <a:solidFill>
                  <a:srgbClr val="A8E978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B4AB91-922B-4DA6-BB52-D292B5B8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72390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485"/>
          </a:solidFill>
          <a:ln xmlns:a="http://schemas.openxmlformats.org/drawingml/2006/main" w="0">
            <a:solidFill>
              <a:srgbClr val="7E948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0E36C4-CC88-4C55-8C91-F095FB27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7391400"/>
            <a:ext cx="5314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/>
            </a:pPr>
            <a:r>
              <a:rPr sz="2325" b="1"/>
              <a:t>Records + ROI reporting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ACEAF4-C2A9-47B1-ABDA-E40B4585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7848600"/>
            <a:ext cx="5314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E9485"/>
                </a:solidFill>
              </a:defRPr>
            </a:pPr>
            <a:r>
              <a:rPr sz="1650">
                <a:solidFill>
                  <a:srgbClr val="7E9485"/>
                </a:solidFill>
              </a:rPr>
              <a:t>queued</a:t>
            </a:r>
          </a:p>
        </p:txBody>
      </p:sp>
    </p:spTree>
    <p:extLst>
      <p:ext uri="{BB962C8B-B14F-4D97-AF65-F5344CB8AC3E}">
        <p14:creationId xmlns:p14="http://schemas.microsoft.com/office/powerpoint/2010/main" val="18644784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base">
            <a:extLst xmlns:a="http://schemas.openxmlformats.org/drawingml/2006/main">
              <a:ext uri="{FF2B5EF4-FFF2-40B4-BE49-F238E27FC236}">
                <a16:creationId xmlns:a16="http://schemas.microsoft.com/office/drawing/2014/main" id="{3FDE5F7F-92BF-4DF3-92C3-F8CD48A2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</p:spPr>
      </p:sp>
      <p:sp>
        <p:nvSpPr>
          <p:cNvPr id="2" name="bg-band">
            <a:extLst xmlns:a="http://schemas.openxmlformats.org/drawingml/2006/main">
              <a:ext uri="{FF2B5EF4-FFF2-40B4-BE49-F238E27FC236}">
                <a16:creationId xmlns:a16="http://schemas.microsoft.com/office/drawing/2014/main" id="{52F5CB29-0A22-460B-BDDE-152802FD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4"/>
          </a:solidFill>
        </p:spPr>
      </p:sp>
      <p:sp>
        <p:nvSpPr>
          <p:cNvPr id="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4A62181C-3A7F-44D1-BE7A-72F159B6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4" name="field-line">
            <a:extLst xmlns:a="http://schemas.openxmlformats.org/drawingml/2006/main">
              <a:ext uri="{FF2B5EF4-FFF2-40B4-BE49-F238E27FC236}">
                <a16:creationId xmlns:a16="http://schemas.microsoft.com/office/drawing/2014/main" id="{758A3605-26C0-4B14-A69A-3FC44925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5"/>
          </a:solidFill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37FCC6A-EBB0-46CD-879C-8B89237C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2DA93"/>
                </a:solidFill>
              </a:defRPr>
            </a:pPr>
            <a:r>
              <a:rPr sz="1350" b="1">
                <a:solidFill>
                  <a:srgbClr val="E2DA93"/>
                </a:solidFill>
              </a:rPr>
              <a:t>OPERATING SYSTEM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DB3A2D-9439-4E75-8709-1A6D7804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16014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EAF4EB"/>
                </a:solidFill>
              </a:defRPr>
            </a:pPr>
            <a:r>
              <a:rPr sz="4950" b="1">
                <a:solidFill>
                  <a:srgbClr val="EAF4EB"/>
                </a:solidFill>
              </a:rPr>
              <a:t>Everything that must be ready before launch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27384E9-E6A9-40D0-9EDF-162D97F2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0420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B9C9BC"/>
                </a:solidFill>
              </a:defRPr>
            </a:pPr>
            <a:r>
              <a:rPr sz="2100">
                <a:solidFill>
                  <a:srgbClr val="B9C9BC"/>
                </a:solidFill>
              </a:rPr>
              <a:t>The software ties together people, machines, documents, checklists, records, and support so the division can scale without tribal knowledge.</a:t>
            </a:r>
          </a:p>
        </p:txBody>
      </p:sp>
      <p:sp>
        <p:nvSpPr>
          <p:cNvPr id="8" name="ops-list-dot-0">
            <a:extLst xmlns:a="http://schemas.openxmlformats.org/drawingml/2006/main">
              <a:ext uri="{FF2B5EF4-FFF2-40B4-BE49-F238E27FC236}">
                <a16:creationId xmlns:a16="http://schemas.microsoft.com/office/drawing/2014/main" id="{0DB82143-9C02-402F-AA36-AD927ACE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97BB3-90D7-4850-BB06-B87CAAFB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9315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Operators: training complete, practical signoff, tracked credentials, aircraft/payload authorization.</a:t>
            </a:r>
          </a:p>
        </p:txBody>
      </p:sp>
      <p:sp>
        <p:nvSpPr>
          <p:cNvPr id="10" name="ops-list-dot-1">
            <a:extLst xmlns:a="http://schemas.openxmlformats.org/drawingml/2006/main">
              <a:ext uri="{FF2B5EF4-FFF2-40B4-BE49-F238E27FC236}">
                <a16:creationId xmlns:a16="http://schemas.microsoft.com/office/drawing/2014/main" id="{1D88EF2E-DC49-424D-9FA4-D742A752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5A03C-1490-4DAB-8F50-93A22873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9315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Aircraft: active status, registration, Remote ID, calibration, batteries, maintenance blockers.</a:t>
            </a:r>
          </a:p>
        </p:txBody>
      </p:sp>
      <p:sp>
        <p:nvSpPr>
          <p:cNvPr id="12" name="ops-list-dot-2">
            <a:extLst xmlns:a="http://schemas.openxmlformats.org/drawingml/2006/main">
              <a:ext uri="{FF2B5EF4-FFF2-40B4-BE49-F238E27FC236}">
                <a16:creationId xmlns:a16="http://schemas.microsoft.com/office/drawing/2014/main" id="{9EA0BE88-CAC8-4660-82F2-B44C9CC6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C4AB3-3F6F-4C20-B625-0231A2DA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14950"/>
            <a:ext cx="9315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Job: field plan, label/reference docs, weather/drift acknowledgement, required SOP checklists.</a:t>
            </a:r>
          </a:p>
        </p:txBody>
      </p:sp>
      <p:sp>
        <p:nvSpPr>
          <p:cNvPr id="14" name="ops-list-dot-3">
            <a:extLst xmlns:a="http://schemas.openxmlformats.org/drawingml/2006/main">
              <a:ext uri="{FF2B5EF4-FFF2-40B4-BE49-F238E27FC236}">
                <a16:creationId xmlns:a16="http://schemas.microsoft.com/office/drawing/2014/main" id="{E96C8731-57ED-4A00-9C99-4383E77E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4623B-8AAA-4163-BEA9-5CF6F4A5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096000"/>
            <a:ext cx="931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After action: application records, postflight, maintenance tickets, and performance rollup.</a:t>
            </a:r>
          </a:p>
        </p:txBody>
      </p:sp>
      <p:sp>
        <p:nvSpPr>
          <p:cNvPr id="16" name="system-panel">
            <a:extLst xmlns:a="http://schemas.openxmlformats.org/drawingml/2006/main">
              <a:ext uri="{FF2B5EF4-FFF2-40B4-BE49-F238E27FC236}">
                <a16:creationId xmlns:a16="http://schemas.microsoft.com/office/drawing/2014/main" id="{6C06637B-226E-4F65-9120-593592AB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420" y="3783330"/>
            <a:ext cx="6393180" cy="576072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14241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BCE30-95C1-45C2-AA11-DA3B0BA3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95750"/>
            <a:ext cx="5791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2DA93"/>
                </a:solidFill>
              </a:defRPr>
            </a:pPr>
            <a:r>
              <a:rPr sz="1200" b="1">
                <a:solidFill>
                  <a:srgbClr val="E2DA93"/>
                </a:solidFill>
              </a:rPr>
              <a:t>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5FEAFA-FC0A-43B2-B213-8C7DEB6C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343400"/>
            <a:ext cx="5791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A8E978"/>
                </a:solidFill>
              </a:defRPr>
            </a:pPr>
            <a:r>
              <a:rPr sz="3900" b="1">
                <a:solidFill>
                  <a:srgbClr val="A8E978"/>
                </a:solidFill>
              </a:rPr>
              <a:t>closed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D1A3E-9F43-4FC8-844E-B5AE3B00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010150"/>
            <a:ext cx="5791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C9BC"/>
                </a:solidFill>
              </a:defRPr>
            </a:pPr>
            <a:r>
              <a:rPr sz="1575">
                <a:solidFill>
                  <a:srgbClr val="B9C9BC"/>
                </a:solidFill>
              </a:rPr>
              <a:t>application evidence attached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33328-F14E-47AE-ACEA-A3E4F22D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486400"/>
            <a:ext cx="5791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2DA93"/>
                </a:solidFill>
              </a:defRPr>
            </a:pPr>
            <a:r>
              <a:rPr sz="1200" b="1">
                <a:solidFill>
                  <a:srgbClr val="E2DA93"/>
                </a:solidFill>
              </a:rPr>
              <a:t>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80BA89-BEB8-4EC9-B569-58EED776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753100"/>
            <a:ext cx="5791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A8E978"/>
                </a:solidFill>
              </a:defRPr>
            </a:pPr>
            <a:r>
              <a:rPr sz="3900" b="1">
                <a:solidFill>
                  <a:srgbClr val="A8E978"/>
                </a:solidFill>
              </a:rPr>
              <a:t>tracked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158D86-3B44-48D1-98B6-78AC2B88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791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C9BC"/>
                </a:solidFill>
              </a:defRPr>
            </a:pPr>
            <a:r>
              <a:rPr sz="1575">
                <a:solidFill>
                  <a:srgbClr val="B9C9BC"/>
                </a:solidFill>
              </a:rPr>
              <a:t>tickets and maintenance blockers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8FFEC4-AD8F-44DD-8B5B-05AF9836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877050"/>
            <a:ext cx="5791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2DA93"/>
                </a:solidFill>
              </a:defRPr>
            </a:pPr>
            <a:r>
              <a:rPr sz="1200" b="1">
                <a:solidFill>
                  <a:srgbClr val="E2DA93"/>
                </a:solidFill>
              </a:rPr>
              <a:t>Reporting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4BCBEB-2FC5-4B25-A093-0EF8ADEF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7143750"/>
            <a:ext cx="5791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A8E978"/>
                </a:solidFill>
              </a:defRPr>
            </a:pPr>
            <a:r>
              <a:rPr sz="3900" b="1">
                <a:solidFill>
                  <a:srgbClr val="A8E978"/>
                </a:solidFill>
              </a:rPr>
              <a:t>visible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DBE19E-95B9-483F-A49A-09AAA50A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7810500"/>
            <a:ext cx="5791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C9BC"/>
                </a:solidFill>
              </a:defRPr>
            </a:pPr>
            <a:r>
              <a:rPr sz="1575">
                <a:solidFill>
                  <a:srgbClr val="B9C9BC"/>
                </a:solidFill>
              </a:rPr>
              <a:t>acres, utilization, avoided outsource cost</a:t>
            </a:r>
          </a:p>
        </p:txBody>
      </p:sp>
    </p:spTree>
    <p:extLst>
      <p:ext uri="{BB962C8B-B14F-4D97-AF65-F5344CB8AC3E}">
        <p14:creationId xmlns:p14="http://schemas.microsoft.com/office/powerpoint/2010/main" val="9440776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base">
            <a:extLst xmlns:a="http://schemas.openxmlformats.org/drawingml/2006/main">
              <a:ext uri="{FF2B5EF4-FFF2-40B4-BE49-F238E27FC236}">
                <a16:creationId xmlns:a16="http://schemas.microsoft.com/office/drawing/2014/main" id="{D872E0FB-39C3-40E9-AA09-CB326276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</p:spPr>
      </p:sp>
      <p:sp>
        <p:nvSpPr>
          <p:cNvPr id="2" name="bg-band">
            <a:extLst xmlns:a="http://schemas.openxmlformats.org/drawingml/2006/main">
              <a:ext uri="{FF2B5EF4-FFF2-40B4-BE49-F238E27FC236}">
                <a16:creationId xmlns:a16="http://schemas.microsoft.com/office/drawing/2014/main" id="{35A55778-2C36-4685-92E1-2972132F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4"/>
          </a:solidFill>
        </p:spPr>
      </p:sp>
      <p:sp>
        <p:nvSpPr>
          <p:cNvPr id="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692272CB-D848-4347-90BC-B5B964AA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4" name="field-line">
            <a:extLst xmlns:a="http://schemas.openxmlformats.org/drawingml/2006/main">
              <a:ext uri="{FF2B5EF4-FFF2-40B4-BE49-F238E27FC236}">
                <a16:creationId xmlns:a16="http://schemas.microsoft.com/office/drawing/2014/main" id="{8BCA5061-ED1C-4B9B-8D87-6255F4A8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5"/>
          </a:solidFill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1ADC4EE-7B02-4D59-ADD6-34582C4C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2DA93"/>
                </a:solidFill>
              </a:defRPr>
            </a:pPr>
            <a:r>
              <a:rPr sz="1350" b="1">
                <a:solidFill>
                  <a:srgbClr val="E2DA93"/>
                </a:solidFill>
              </a:rPr>
              <a:t>PERFORMANCE STORY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41EEEA-553F-45C2-ABFD-47417536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12585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EAF4EB"/>
                </a:solidFill>
              </a:defRPr>
            </a:pPr>
            <a:r>
              <a:rPr sz="4950" b="1">
                <a:solidFill>
                  <a:srgbClr val="EAF4EB"/>
                </a:solidFill>
              </a:rPr>
              <a:t>RDO sees an operating business, not a pilot project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8B5030A-90D7-4491-8C71-1EF7D6B3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04584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B9C9BC"/>
                </a:solidFill>
              </a:defRPr>
            </a:pPr>
            <a:r>
              <a:rPr sz="2100">
                <a:solidFill>
                  <a:srgbClr val="B9C9BC"/>
                </a:solidFill>
              </a:rPr>
              <a:t>Performance reporting converts readiness work into an executive story: capability built, windows captured, risk controlled, and outsource cost avoided.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84DA4-2B92-417E-9D53-97E695A2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3924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A8E978"/>
                </a:solidFill>
              </a:defRPr>
            </a:pPr>
            <a:r>
              <a:rPr sz="5400" b="1">
                <a:solidFill>
                  <a:srgbClr val="A8E978"/>
                </a:solidFill>
              </a:rPr>
              <a:t>228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F4E17-FC33-463D-8C6C-5BABF42B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392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3D"/>
          </a:solidFill>
          <a:ln xmlns:a="http://schemas.openxmlformats.org/drawingml/2006/main" w="0">
            <a:solidFill>
              <a:srgbClr val="3551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1189E-55E4-45B5-B6FB-53E62BA5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3924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/>
            </a:pPr>
            <a:r>
              <a:rPr sz="2025" b="1"/>
              <a:t>Acres applied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75E5D-C41F-4C1E-8397-B1BD6259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3924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C9BC"/>
                </a:solidFill>
              </a:defRPr>
            </a:pPr>
            <a:r>
              <a:rPr sz="1575">
                <a:solidFill>
                  <a:srgbClr val="B9C9BC"/>
                </a:solidFill>
              </a:rPr>
              <a:t>May 1-5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E21D8-3276-4B7F-9539-72E78D15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90950"/>
            <a:ext cx="3924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A8E978"/>
                </a:solidFill>
              </a:defRPr>
            </a:pPr>
            <a:r>
              <a:rPr sz="5400" b="1">
                <a:solidFill>
                  <a:srgbClr val="A8E978"/>
                </a:solidFill>
              </a:rPr>
              <a:t>1 of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76EF3-089E-436E-AF8A-2B456FA3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81550"/>
            <a:ext cx="392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3D"/>
          </a:solidFill>
          <a:ln xmlns:a="http://schemas.openxmlformats.org/drawingml/2006/main" w="0">
            <a:solidFill>
              <a:srgbClr val="3551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7E3FC-FE23-4246-9213-F7D76D3A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72050"/>
            <a:ext cx="3924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/>
            </a:pPr>
            <a:r>
              <a:rPr sz="2025" b="1"/>
              <a:t>Ready jobs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B5F83-FEB9-4F7B-B49B-DDD74CD1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48300"/>
            <a:ext cx="3924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C9BC"/>
                </a:solidFill>
              </a:defRPr>
            </a:pPr>
            <a:r>
              <a:rPr sz="1575">
                <a:solidFill>
                  <a:srgbClr val="B9C9BC"/>
                </a:solidFill>
              </a:rPr>
              <a:t>next 7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A12D0-E842-4FE2-9C2F-51A6745C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90950"/>
            <a:ext cx="3924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A8E978"/>
                </a:solidFill>
              </a:defRPr>
            </a:pPr>
            <a:r>
              <a:rPr sz="5400" b="1">
                <a:solidFill>
                  <a:srgbClr val="A8E978"/>
                </a:solidFill>
              </a:rPr>
              <a:t>42%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FC928-68ED-4746-8FBA-75613B28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81550"/>
            <a:ext cx="392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3D"/>
          </a:solidFill>
          <a:ln xmlns:a="http://schemas.openxmlformats.org/drawingml/2006/main" w="0">
            <a:solidFill>
              <a:srgbClr val="3551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196C8-0381-46DE-9B61-B4468797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72050"/>
            <a:ext cx="3924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/>
            </a:pPr>
            <a:r>
              <a:rPr sz="2025" b="1"/>
              <a:t>Aircraft utilization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95AAAB-2EAD-4BA1-9F40-0A025558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448300"/>
            <a:ext cx="3924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C9BC"/>
                </a:solidFill>
              </a:defRPr>
            </a:pPr>
            <a:r>
              <a:rPr sz="1575">
                <a:solidFill>
                  <a:srgbClr val="B9C9BC"/>
                </a:solidFill>
              </a:rPr>
              <a:t>launch month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95F753-1972-4482-8097-999F2335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3790950"/>
            <a:ext cx="3924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2DA93"/>
                </a:solidFill>
              </a:defRPr>
            </a:pPr>
            <a:r>
              <a:rPr sz="5400" b="1">
                <a:solidFill>
                  <a:srgbClr val="E2DA93"/>
                </a:solidFill>
              </a:rPr>
              <a:t>$8.4k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94FA0-C96A-4F15-8A8F-5A27E8BD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781550"/>
            <a:ext cx="392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3D"/>
          </a:solidFill>
          <a:ln xmlns:a="http://schemas.openxmlformats.org/drawingml/2006/main" w="0">
            <a:solidFill>
              <a:srgbClr val="3551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803D01-B77C-4600-A18A-D628B506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972050"/>
            <a:ext cx="3924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/>
            </a:pPr>
            <a:r>
              <a:rPr sz="2025" b="1"/>
              <a:t>Avoided outsource cost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BD920-3995-48B8-87B5-122A2BC9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448300"/>
            <a:ext cx="3924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C9BC"/>
                </a:solidFill>
              </a:defRPr>
            </a:pPr>
            <a:r>
              <a:rPr sz="1575">
                <a:solidFill>
                  <a:srgbClr val="B9C9BC"/>
                </a:solidFill>
              </a:rPr>
              <a:t>demo model</a:t>
            </a:r>
          </a:p>
        </p:txBody>
      </p:sp>
    </p:spTree>
    <p:extLst>
      <p:ext uri="{BB962C8B-B14F-4D97-AF65-F5344CB8AC3E}">
        <p14:creationId xmlns:p14="http://schemas.microsoft.com/office/powerpoint/2010/main" val="11051804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base">
            <a:extLst xmlns:a="http://schemas.openxmlformats.org/drawingml/2006/main">
              <a:ext uri="{FF2B5EF4-FFF2-40B4-BE49-F238E27FC236}">
                <a16:creationId xmlns:a16="http://schemas.microsoft.com/office/drawing/2014/main" id="{9E0585E5-8B64-4086-8C71-E70FBE99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</p:spPr>
      </p:sp>
      <p:sp>
        <p:nvSpPr>
          <p:cNvPr id="2" name="bg-band">
            <a:extLst xmlns:a="http://schemas.openxmlformats.org/drawingml/2006/main">
              <a:ext uri="{FF2B5EF4-FFF2-40B4-BE49-F238E27FC236}">
                <a16:creationId xmlns:a16="http://schemas.microsoft.com/office/drawing/2014/main" id="{F1D80576-4B41-47EF-9804-CF54B037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4"/>
          </a:solidFill>
        </p:spPr>
      </p:sp>
      <p:sp>
        <p:nvSpPr>
          <p:cNvPr id="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6671CDF7-E327-4CCA-90F1-F80823F2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4" name="field-line">
            <a:extLst xmlns:a="http://schemas.openxmlformats.org/drawingml/2006/main">
              <a:ext uri="{FF2B5EF4-FFF2-40B4-BE49-F238E27FC236}">
                <a16:creationId xmlns:a16="http://schemas.microsoft.com/office/drawing/2014/main" id="{0A0362EA-5CD4-48A5-A5A7-4C7965BA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5"/>
          </a:solidFill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27857746-CD46-4BC0-BC10-90CF0406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2DA93"/>
                </a:solidFill>
              </a:defRPr>
            </a:pPr>
            <a:r>
              <a:rPr sz="1350" b="1">
                <a:solidFill>
                  <a:srgbClr val="E2DA93"/>
                </a:solidFill>
              </a:rPr>
              <a:t>CLOSE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07D0EC-F6D8-4F83-A082-BCDCD9A7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24015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EAF4EB"/>
                </a:solidFill>
              </a:defRPr>
            </a:pPr>
            <a:r>
              <a:rPr sz="4950" b="1">
                <a:solidFill>
                  <a:srgbClr val="EAF4EB"/>
                </a:solidFill>
              </a:rPr>
              <a:t>The ask: let Harvest build the division with RDO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7554F49-923C-48C5-B49E-EB1E7981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02298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B9C9BC"/>
                </a:solidFill>
              </a:defRPr>
            </a:pPr>
            <a:r>
              <a:rPr sz="2100">
                <a:solidFill>
                  <a:srgbClr val="B9C9BC"/>
                </a:solidFill>
              </a:rPr>
              <a:t>The strongest close is operational: Harvest gives RDO a safer, auditable, repeatable way to own drone application capability.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515A0-92AB-438C-B6FD-C132FCE9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933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2DA93"/>
                </a:solidFill>
              </a:defRPr>
            </a:pPr>
            <a:r>
              <a:rPr sz="1875" b="1">
                <a:solidFill>
                  <a:srgbClr val="E2DA93"/>
                </a:solidFill>
              </a:rPr>
              <a:t>Recommended talk track</a:t>
            </a:r>
          </a:p>
        </p:txBody>
      </p:sp>
      <p:sp>
        <p:nvSpPr>
          <p:cNvPr id="9" name="close-list-dot-0">
            <a:extLst xmlns:a="http://schemas.openxmlformats.org/drawingml/2006/main">
              <a:ext uri="{FF2B5EF4-FFF2-40B4-BE49-F238E27FC236}">
                <a16:creationId xmlns:a16="http://schemas.microsoft.com/office/drawing/2014/main" id="{15C629E3-CDE7-43E8-8563-C4FCF162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C9855-FEDE-466C-8CA8-0A134696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906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RDO owns the capability.</a:t>
            </a:r>
          </a:p>
        </p:txBody>
      </p:sp>
      <p:sp>
        <p:nvSpPr>
          <p:cNvPr id="11" name="close-list-dot-1">
            <a:extLst xmlns:a="http://schemas.openxmlformats.org/drawingml/2006/main">
              <a:ext uri="{FF2B5EF4-FFF2-40B4-BE49-F238E27FC236}">
                <a16:creationId xmlns:a16="http://schemas.microsoft.com/office/drawing/2014/main" id="{E58E7460-2155-4DB7-AB3D-E44E5877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F0B00-9F03-4A77-8575-28A94837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62500"/>
            <a:ext cx="906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Harvest implements the OS, training workflow, support process, and readiness governance.</a:t>
            </a:r>
          </a:p>
        </p:txBody>
      </p:sp>
      <p:sp>
        <p:nvSpPr>
          <p:cNvPr id="13" name="close-list-dot-2">
            <a:extLst xmlns:a="http://schemas.openxmlformats.org/drawingml/2006/main">
              <a:ext uri="{FF2B5EF4-FFF2-40B4-BE49-F238E27FC236}">
                <a16:creationId xmlns:a16="http://schemas.microsoft.com/office/drawing/2014/main" id="{814BCB42-76AD-42A7-9197-AD73E98F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FFA90-9AAD-4072-98A5-B3148CC9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906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Every job becomes a controlled operating decision.</a:t>
            </a:r>
          </a:p>
        </p:txBody>
      </p:sp>
      <p:sp>
        <p:nvSpPr>
          <p:cNvPr id="15" name="close-list-dot-3">
            <a:extLst xmlns:a="http://schemas.openxmlformats.org/drawingml/2006/main">
              <a:ext uri="{FF2B5EF4-FFF2-40B4-BE49-F238E27FC236}">
                <a16:creationId xmlns:a16="http://schemas.microsoft.com/office/drawing/2014/main" id="{2EDF5104-72AB-4D8D-AB84-F24F85E9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1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97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7DE7D-B171-449F-AE78-B5E7A0E4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981700"/>
            <a:ext cx="906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AF4EB"/>
                </a:solidFill>
              </a:defRPr>
            </a:pPr>
            <a:r>
              <a:rPr sz="2025">
                <a:solidFill>
                  <a:srgbClr val="EAF4EB"/>
                </a:solidFill>
              </a:rPr>
              <a:t>The division improves as records, maintenance, and performance data accumulate.</a:t>
            </a:r>
          </a:p>
        </p:txBody>
      </p:sp>
      <p:sp>
        <p:nvSpPr>
          <p:cNvPr id="17" name="close-panel">
            <a:extLst xmlns:a="http://schemas.openxmlformats.org/drawingml/2006/main">
              <a:ext uri="{FF2B5EF4-FFF2-40B4-BE49-F238E27FC236}">
                <a16:creationId xmlns:a16="http://schemas.microsoft.com/office/drawing/2014/main" id="{E12A3761-DD46-4F07-9FAF-56295B68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783330"/>
            <a:ext cx="668655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B3023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B1738-FE21-45CD-BC51-FC47398C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114800"/>
            <a:ext cx="6038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2DA93"/>
                </a:solidFill>
              </a:defRPr>
            </a:pPr>
            <a:r>
              <a:rPr sz="1800" b="1">
                <a:solidFill>
                  <a:srgbClr val="E2DA93"/>
                </a:solidFill>
              </a:rPr>
              <a:t>Next demo move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D51122-C804-4623-9EC2-BE5B4E92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91050"/>
            <a:ext cx="6038850" cy="201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4EB"/>
                </a:solidFill>
              </a:defRPr>
            </a:pPr>
            <a:r>
              <a:rPr sz="3300" b="1">
                <a:solidFill>
                  <a:srgbClr val="EAF4EB"/>
                </a:solidFill>
              </a:rPr>
              <a:t>Walk RDO through one blocked job, fix the blockers, then show the same job become ready under Harvest rules.</a:t>
            </a:r>
          </a:p>
        </p:txBody>
      </p:sp>
    </p:spTree>
    <p:extLst>
      <p:ext uri="{BB962C8B-B14F-4D97-AF65-F5344CB8AC3E}">
        <p14:creationId xmlns:p14="http://schemas.microsoft.com/office/powerpoint/2010/main" val="5134099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2026-05-05T17:08:48.7050000Z</dcterms:created>
  <dcterms:modified xsi:type="dcterms:W3CDTF">2026-05-05T17:08:48.7050000Z</dcterms:modified>
</coreProperties>
</file>