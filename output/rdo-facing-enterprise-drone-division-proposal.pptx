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378497ddc74206" /><Relationship Type="http://schemas.openxmlformats.org/officeDocument/2006/relationships/extended-properties" Target="/docProps/app.xml" Id="R828d54240ade4cb9" /><Relationship Type="http://schemas.openxmlformats.org/officeDocument/2006/relationships/officeDocument" Target="/ppt/presentation.xml" Id="Rc1c4f665900746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f5781740844014"/>
  </p:sldMasterIdLst>
  <p:notesMasterIdLst>
    <p:notesMasterId xmlns:r="http://schemas.openxmlformats.org/officeDocument/2006/relationships" r:id="R540f291615e348ee"/>
  </p:notesMasterIdLst>
  <p:sldIdLst>
    <p:sldId xmlns:r="http://schemas.openxmlformats.org/officeDocument/2006/relationships" id="256" r:id="R25a2daee526649ff"/>
    <p:sldId xmlns:r="http://schemas.openxmlformats.org/officeDocument/2006/relationships" id="257" r:id="R1f24ba6bfd0a44a8"/>
    <p:sldId xmlns:r="http://schemas.openxmlformats.org/officeDocument/2006/relationships" id="258" r:id="R8b2d0f047a9449b1"/>
    <p:sldId xmlns:r="http://schemas.openxmlformats.org/officeDocument/2006/relationships" id="259" r:id="R8df54fe687b14b61"/>
    <p:sldId xmlns:r="http://schemas.openxmlformats.org/officeDocument/2006/relationships" id="260" r:id="Rc1932f44096047ea"/>
    <p:sldId xmlns:r="http://schemas.openxmlformats.org/officeDocument/2006/relationships" id="261" r:id="R896237e81c4f4bd6"/>
    <p:sldId xmlns:r="http://schemas.openxmlformats.org/officeDocument/2006/relationships" id="262" r:id="R748bb524c0774be2"/>
    <p:sldId xmlns:r="http://schemas.openxmlformats.org/officeDocument/2006/relationships" id="263" r:id="R9bd7d031554e44ce"/>
    <p:sldId xmlns:r="http://schemas.openxmlformats.org/officeDocument/2006/relationships" id="264" r:id="Rbf8d2a6019db45fe"/>
    <p:sldId xmlns:r="http://schemas.openxmlformats.org/officeDocument/2006/relationships" id="265" r:id="R46f47b40f3ac416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5781740844014" /><Relationship Type="http://schemas.openxmlformats.org/officeDocument/2006/relationships/theme" Target="/ppt/theme/theme1.xml" Id="R05b1d8b5a5ba407f" /><Relationship Type="http://schemas.openxmlformats.org/officeDocument/2006/relationships/notesMaster" Target="/ppt/notesMasters/notesMaster1.xml" Id="R540f291615e348ee" /><Relationship Type="http://schemas.openxmlformats.org/officeDocument/2006/relationships/presProps" Target="/ppt/presProps.xml" Id="R14ffd741f5a14f22" /><Relationship Type="http://schemas.openxmlformats.org/officeDocument/2006/relationships/viewProps" Target="/ppt/viewProps.xml" Id="Rd6b2dce316424305" /><Relationship Type="http://schemas.openxmlformats.org/officeDocument/2006/relationships/tableStyles" Target="/ppt/tableStyles.xml" Id="R86f72768bdf34de7" /><Relationship Type="http://schemas.openxmlformats.org/officeDocument/2006/relationships/slide" Target="/ppt/slides/slide1.xml" Id="R25a2daee526649ff" /><Relationship Type="http://schemas.openxmlformats.org/officeDocument/2006/relationships/slide" Target="/ppt/slides/slide2.xml" Id="R1f24ba6bfd0a44a8" /><Relationship Type="http://schemas.openxmlformats.org/officeDocument/2006/relationships/slide" Target="/ppt/slides/slide3.xml" Id="R8b2d0f047a9449b1" /><Relationship Type="http://schemas.openxmlformats.org/officeDocument/2006/relationships/slide" Target="/ppt/slides/slide4.xml" Id="R8df54fe687b14b61" /><Relationship Type="http://schemas.openxmlformats.org/officeDocument/2006/relationships/slide" Target="/ppt/slides/slide5.xml" Id="Rc1932f44096047ea" /><Relationship Type="http://schemas.openxmlformats.org/officeDocument/2006/relationships/slide" Target="/ppt/slides/slide6.xml" Id="R896237e81c4f4bd6" /><Relationship Type="http://schemas.openxmlformats.org/officeDocument/2006/relationships/slide" Target="/ppt/slides/slide7.xml" Id="R748bb524c0774be2" /><Relationship Type="http://schemas.openxmlformats.org/officeDocument/2006/relationships/slide" Target="/ppt/slides/slide8.xml" Id="R9bd7d031554e44ce" /><Relationship Type="http://schemas.openxmlformats.org/officeDocument/2006/relationships/slide" Target="/ppt/slides/slide9.xml" Id="Rbf8d2a6019db45fe" /><Relationship Type="http://schemas.openxmlformats.org/officeDocument/2006/relationships/slide" Target="/ppt/slides/slide10.xml" Id="R46f47b40f3ac41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f80fe34c74c4e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ebd22e765947f4" /><Relationship Type="http://schemas.openxmlformats.org/officeDocument/2006/relationships/notesMaster" Target="/ppt/notesMasters/notesMaster1.xml" Id="R869686efc1e941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9bb83f8b474f71" /><Relationship Type="http://schemas.openxmlformats.org/officeDocument/2006/relationships/notesMaster" Target="/ppt/notesMasters/notesMaster1.xml" Id="R6df4bfe5622542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7a07d385bd45d0" /><Relationship Type="http://schemas.openxmlformats.org/officeDocument/2006/relationships/notesMaster" Target="/ppt/notesMasters/notesMaster1.xml" Id="Raadefb59a52a48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b86a03b0534a7d" /><Relationship Type="http://schemas.openxmlformats.org/officeDocument/2006/relationships/notesMaster" Target="/ppt/notesMasters/notesMaster1.xml" Id="Racc4a276100a4e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27883038314ac0" /><Relationship Type="http://schemas.openxmlformats.org/officeDocument/2006/relationships/notesMaster" Target="/ppt/notesMasters/notesMaster1.xml" Id="R2853129f74464f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c2d0928e0c4bf2" /><Relationship Type="http://schemas.openxmlformats.org/officeDocument/2006/relationships/notesMaster" Target="/ppt/notesMasters/notesMaster1.xml" Id="R806e8086e6104a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c9a7160c9c4d95" /><Relationship Type="http://schemas.openxmlformats.org/officeDocument/2006/relationships/notesMaster" Target="/ppt/notesMasters/notesMaster1.xml" Id="R23f6f074a0224a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095ebe56134368" /><Relationship Type="http://schemas.openxmlformats.org/officeDocument/2006/relationships/notesMaster" Target="/ppt/notesMasters/notesMaster1.xml" Id="R57ff2af2005244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7aa6a833f3484c" /><Relationship Type="http://schemas.openxmlformats.org/officeDocument/2006/relationships/notesMaster" Target="/ppt/notesMasters/notesMaster1.xml" Id="Reeffb8c97d434e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64c71e81164e0a" /><Relationship Type="http://schemas.openxmlformats.org/officeDocument/2006/relationships/notesMaster" Target="/ppt/notesMasters/notesMaster1.xml" Id="Re620ba8deb4e41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3b18ddbe34ab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680354ea3184e10" /><Relationship Type="http://schemas.openxmlformats.org/officeDocument/2006/relationships/slideLayout" Target="/ppt/slideLayouts/slideLayout2.xml" Id="Rab22b71bc72542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22b71bc72542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98eb288e5843a6" /><Relationship Type="http://schemas.openxmlformats.org/officeDocument/2006/relationships/notesSlide" Target="/ppt/notesSlides/notesSlide1.xml" Id="Rd97222e638e24a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b87cad97f44125" /><Relationship Type="http://schemas.openxmlformats.org/officeDocument/2006/relationships/notesSlide" Target="/ppt/notesSlides/notesSlide2.xml" Id="Rfe502b87341b48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408571ccc94b1a" /><Relationship Type="http://schemas.openxmlformats.org/officeDocument/2006/relationships/notesSlide" Target="/ppt/notesSlides/notesSlide3.xml" Id="Re77cdac7fc8f4f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bc1b19fb804d4a" /><Relationship Type="http://schemas.openxmlformats.org/officeDocument/2006/relationships/notesSlide" Target="/ppt/notesSlides/notesSlide4.xml" Id="Rd1b91b460b5340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62d365633d4557" /><Relationship Type="http://schemas.openxmlformats.org/officeDocument/2006/relationships/notesSlide" Target="/ppt/notesSlides/notesSlide5.xml" Id="Redc4ea1be0d346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430288173b4b48" /><Relationship Type="http://schemas.openxmlformats.org/officeDocument/2006/relationships/notesSlide" Target="/ppt/notesSlides/notesSlide6.xml" Id="R6e4103aed53845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4f8fb72d3346b3" /><Relationship Type="http://schemas.openxmlformats.org/officeDocument/2006/relationships/notesSlide" Target="/ppt/notesSlides/notesSlide7.xml" Id="Rc9503c00069647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edbf9470a54401" /><Relationship Type="http://schemas.openxmlformats.org/officeDocument/2006/relationships/notesSlide" Target="/ppt/notesSlides/notesSlide8.xml" Id="Rad03671d9fd34d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f4d3cb4f5f4401" /><Relationship Type="http://schemas.openxmlformats.org/officeDocument/2006/relationships/notesSlide" Target="/ppt/notesSlides/notesSlide9.xml" Id="R84376692e4bf4b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0e8f2c6e4b416b" /><Relationship Type="http://schemas.openxmlformats.org/officeDocument/2006/relationships/notesSlide" Target="/ppt/notesSlides/notesSlide10.xml" Id="Rf1e54769137b4f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4BDF50-9DC1-41E9-AD9A-4C2FC84A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4753D-58AE-49EA-B4A8-185502BC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1A578-7972-4096-A95F-1CB8E0D1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84337-8D6B-4E16-8896-37660886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93356-59A0-4E0C-80E2-1C11D358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BA"/>
          </a:solidFill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D1F0EF61-A627-4B72-A039-721F6478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2209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A35"/>
                </a:solidFill>
              </a:defRPr>
            </a:pPr>
            <a:r>
              <a:rPr sz="1200" b="1">
                <a:solidFill>
                  <a:srgbClr val="2D5A35"/>
                </a:solidFill>
              </a:rPr>
              <a:t>CONFIDENTIAL DISCUSSION DRAFT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4D203C-7834-494E-94DD-9BEA75F2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95631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72018"/>
                </a:solidFill>
              </a:defRPr>
            </a:pPr>
            <a:r>
              <a:rPr sz="6150" b="1">
                <a:solidFill>
                  <a:srgbClr val="172018"/>
                </a:solidFill>
              </a:rPr>
              <a:t>Building RDO’s internal drone application division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500DC88-FCD2-4F6A-925D-AD922F92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9563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C665C"/>
                </a:solidFill>
              </a:defRPr>
            </a:pPr>
            <a:r>
              <a:rPr sz="2025">
                <a:solidFill>
                  <a:srgbClr val="5C665C"/>
                </a:solidFill>
              </a:rPr>
              <a:t>A Harvest Drone OS implementation proposal for potato operations: governance, readiness, records, support, and performance.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7D53C-5F90-4D8D-B5E3-9D8C93EE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238125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A35">
              <a:alpha val="7843"/>
            </a:srgbClr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D0760-40A6-49B2-B59F-A20F90B6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29150"/>
            <a:ext cx="205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5A35"/>
                </a:solidFill>
              </a:defRPr>
            </a:pPr>
            <a:r>
              <a:rPr sz="1275" b="1">
                <a:solidFill>
                  <a:srgbClr val="2D5A35"/>
                </a:solidFill>
              </a:rPr>
              <a:t>RDO-owned capability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523B2-683E-4613-B88B-027C6199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33900"/>
            <a:ext cx="238125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A35">
              <a:alpha val="7843"/>
            </a:srgbClr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CD925-28A7-4A30-A6E3-BC533B91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29150"/>
            <a:ext cx="205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5A35"/>
                </a:solidFill>
              </a:defRPr>
            </a:pPr>
            <a:r>
              <a:rPr sz="1275" b="1">
                <a:solidFill>
                  <a:srgbClr val="2D5A35"/>
                </a:solidFill>
              </a:rPr>
              <a:t>Harvest-enabled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A94B3-66D7-44E0-8F3F-43FEA87E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33900"/>
            <a:ext cx="238125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A35">
              <a:alpha val="7843"/>
            </a:srgbClr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9075D-AE81-4586-820B-14D1C80E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29150"/>
            <a:ext cx="205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5A35"/>
                </a:solidFill>
              </a:defRPr>
            </a:pPr>
            <a:r>
              <a:rPr sz="1275" b="1">
                <a:solidFill>
                  <a:srgbClr val="2D5A35"/>
                </a:solidFill>
              </a:rPr>
              <a:t>Hylio workflow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54555-B6B2-40E4-8D6C-93199710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04850"/>
            <a:ext cx="4933950" cy="6191250"/>
          </a:xfrm>
          <a:prstGeom xmlns:a="http://schemas.openxmlformats.org/drawingml/2006/main" prst="roundRect">
            <a:avLst>
              <a:gd name="adj" fmla="val 3475"/>
            </a:avLst>
          </a:prstGeom>
          <a:solidFill xmlns:a="http://schemas.openxmlformats.org/drawingml/2006/main">
            <a:srgbClr val="DDE3C1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CB770-F8AD-43A5-BF6F-CF384EA0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85800"/>
            <a:ext cx="49530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C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BB201-49CC-4F98-9398-0605F58B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85800"/>
            <a:ext cx="403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18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C85C8-E5F6-4454-BDCA-845C8286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85800"/>
            <a:ext cx="403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B65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B4A0C-B68D-4A68-BD78-2A114A28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85800"/>
            <a:ext cx="403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94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4078D-A3AD-46EC-8A00-0D09AD63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85800"/>
            <a:ext cx="403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755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9C47E8-8CC5-4C78-9681-810773CA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85800"/>
            <a:ext cx="403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FA3"/>
          </a:solidFill>
        </p:spPr>
      </p:sp>
    </p:spTree>
    <p:extLst>
      <p:ext uri="{BB962C8B-B14F-4D97-AF65-F5344CB8AC3E}">
        <p14:creationId xmlns:p14="http://schemas.microsoft.com/office/powerpoint/2010/main" val="20522407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D53FAE-CDCA-428B-85D5-46D96591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015CD-FC00-4875-8347-313D5C61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5AAD3-D8CE-405E-A807-FF89B245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AA9ED-123C-4112-A049-A04C8A33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BD233-1535-4158-BDFB-B2478E63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BA"/>
          </a:solidFill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799C55F1-6E18-4837-9A34-5AE5C45E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A35"/>
                </a:solidFill>
              </a:defRPr>
            </a:pPr>
            <a:r>
              <a:rPr sz="1200" b="1">
                <a:solidFill>
                  <a:srgbClr val="2D5A35"/>
                </a:solidFill>
              </a:rPr>
              <a:t>WHY THIS FITS RDO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C26513-573A-4EFA-84F0-B30A5D65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90487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018"/>
                </a:solidFill>
              </a:defRPr>
            </a:pPr>
            <a:r>
              <a:rPr sz="4500" b="1">
                <a:solidFill>
                  <a:srgbClr val="172018"/>
                </a:solidFill>
              </a:rPr>
              <a:t>The opportunity is operational control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B22D54F-1F4E-4D7E-BB5D-CE78DAE1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0401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C665C"/>
                </a:solidFill>
              </a:defRPr>
            </a:pPr>
            <a:r>
              <a:rPr sz="2025">
                <a:solidFill>
                  <a:srgbClr val="5C665C"/>
                </a:solidFill>
              </a:rPr>
              <a:t>R.D. Offutt Farms publicly emphasizes responsible, science-driven potato farming. Drone application capability fits that operating posture when it is governed, auditable, and repeatable.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71DA0-E7D2-48BA-AEA4-BF4D9C52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7181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D5A35"/>
                </a:solidFill>
              </a:defRPr>
            </a:pPr>
            <a:r>
              <a:rPr sz="4350" b="1">
                <a:solidFill>
                  <a:srgbClr val="2D5A35"/>
                </a:solidFill>
              </a:rPr>
              <a:t>60 years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25E91-C9B9-4A4B-9614-82D47483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7181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18"/>
                </a:solidFill>
              </a:defRPr>
            </a:pPr>
            <a:r>
              <a:rPr sz="1800" b="1">
                <a:solidFill>
                  <a:srgbClr val="172018"/>
                </a:solidFill>
              </a:rPr>
              <a:t>potato farming heritage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552A2-6B64-4958-B3C0-4C6FD3AD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7181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65C"/>
                </a:solidFill>
              </a:defRPr>
            </a:pPr>
            <a:r>
              <a:rPr sz="1350">
                <a:solidFill>
                  <a:srgbClr val="5C665C"/>
                </a:solidFill>
              </a:rPr>
              <a:t>RDO public company materials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9EE19-CD50-4BF7-A099-F7264135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7181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B68B3A"/>
                </a:solidFill>
              </a:defRPr>
            </a:pPr>
            <a:r>
              <a:rPr sz="4350" b="1">
                <a:solidFill>
                  <a:srgbClr val="B68B3A"/>
                </a:solidFill>
              </a:rPr>
              <a:t>15+ farms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CD2ED-A85D-4534-9EC8-8F037210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48350"/>
            <a:ext cx="7181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18"/>
                </a:solidFill>
              </a:defRPr>
            </a:pPr>
            <a:r>
              <a:rPr sz="1800" b="1">
                <a:solidFill>
                  <a:srgbClr val="172018"/>
                </a:solidFill>
              </a:rPr>
              <a:t>Midwest potato footprint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6B53F-BC53-4B36-9BF8-3EBA03F2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7181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65C"/>
                </a:solidFill>
              </a:defRPr>
            </a:pPr>
            <a:r>
              <a:rPr sz="1350">
                <a:solidFill>
                  <a:srgbClr val="5C665C"/>
                </a:solidFill>
              </a:rPr>
              <a:t>Minnesota, North Dakota, Wisconsin, Nebraska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97BFE-0BDB-4E08-B922-43432653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86550"/>
            <a:ext cx="7181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F8EA8"/>
                </a:solidFill>
              </a:defRPr>
            </a:pPr>
            <a:r>
              <a:rPr sz="4350" b="1">
                <a:solidFill>
                  <a:srgbClr val="5F8EA8"/>
                </a:solidFill>
              </a:rPr>
              <a:t>Science-driven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D14FC-0250-4A2D-A9CD-50A8AE11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0"/>
            <a:ext cx="7181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18"/>
                </a:solidFill>
              </a:defRPr>
            </a:pPr>
            <a:r>
              <a:rPr sz="1800" b="1">
                <a:solidFill>
                  <a:srgbClr val="172018"/>
                </a:solidFill>
              </a:rPr>
              <a:t>operating posture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35F10-828F-4613-A333-3EC3F215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72400"/>
            <a:ext cx="7181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65C"/>
                </a:solidFill>
              </a:defRPr>
            </a:pPr>
            <a:r>
              <a:rPr sz="1350">
                <a:solidFill>
                  <a:srgbClr val="5C665C"/>
                </a:solidFill>
              </a:rPr>
              <a:t>sustainable practices and productivity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CA71F-70BE-4178-BABA-97C45B72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24250"/>
            <a:ext cx="876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/>
            </a:pPr>
            <a:r>
              <a:rPr sz="3300" b="1"/>
              <a:t>What Harvest adds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1A6E1-9DEC-43E7-906A-88174AEE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4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E946B6-CE91-478E-AF7D-A8FA3F51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48150"/>
            <a:ext cx="853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8"/>
                </a:solidFill>
              </a:defRPr>
            </a:pPr>
            <a:r>
              <a:rPr sz="1800">
                <a:solidFill>
                  <a:srgbClr val="172018"/>
                </a:solidFill>
              </a:rPr>
              <a:t>Structured implementation path for an internal drone application division.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704DF5-487D-4615-9D8B-0A2229EF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67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D78AC2-0450-4B28-993F-E45C4735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67250"/>
            <a:ext cx="853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8"/>
                </a:solidFill>
              </a:defRPr>
            </a:pPr>
            <a:r>
              <a:rPr sz="1800">
                <a:solidFill>
                  <a:srgbClr val="172018"/>
                </a:solidFill>
              </a:rPr>
              <a:t>Readiness gates before assignment, launch, and record closeout.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E3639-6EB1-4E7D-8ABB-1B750164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3CFA83-4F1E-4EEA-B49F-98E25657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86350"/>
            <a:ext cx="853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8"/>
                </a:solidFill>
              </a:defRPr>
            </a:pPr>
            <a:r>
              <a:rPr sz="1800">
                <a:solidFill>
                  <a:srgbClr val="172018"/>
                </a:solidFill>
              </a:rPr>
              <a:t>Training and support workflow RDO can operate season after season.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788051-6558-4BFE-8FA6-69432F78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600700"/>
            <a:ext cx="876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927F"/>
                </a:solidFill>
              </a:defRPr>
            </a:pPr>
            <a:r>
              <a:rPr sz="1125">
                <a:solidFill>
                  <a:srgbClr val="8A927F"/>
                </a:solidFill>
              </a:rPr>
              <a:t>Sources: R.D. Offutt Farms public website and public company fact materials.</a:t>
            </a:r>
          </a:p>
        </p:txBody>
      </p:sp>
    </p:spTree>
    <p:extLst>
      <p:ext uri="{BB962C8B-B14F-4D97-AF65-F5344CB8AC3E}">
        <p14:creationId xmlns:p14="http://schemas.microsoft.com/office/powerpoint/2010/main" val="10851178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7C3B93-9E4F-43D4-B93B-8CDB2BE2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AF430-99C3-419D-B7CC-03EC5F3F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90AA2-86F5-4E4D-9378-A179B04C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D133F-FA3B-4229-B6F8-C95EDE1B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BF7D9-7E26-4808-A4AE-ABBB425D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BA"/>
          </a:solidFill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2276DACE-5EB9-483A-AE45-AEC40EC6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638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A35"/>
                </a:solidFill>
              </a:defRPr>
            </a:pPr>
            <a:r>
              <a:rPr sz="1200" b="1">
                <a:solidFill>
                  <a:srgbClr val="2D5A35"/>
                </a:solidFill>
              </a:rPr>
              <a:t>THE PRACTICAL PROBLEM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0A6876-64E5-4AAC-9BD6-CDAC0BFA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0515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018"/>
                </a:solidFill>
              </a:defRPr>
            </a:pPr>
            <a:r>
              <a:rPr sz="4500" b="1">
                <a:solidFill>
                  <a:srgbClr val="172018"/>
                </a:solidFill>
              </a:rPr>
              <a:t>Spray windows do not wait for spreadsheets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DA9D241-E2D4-4572-B4B7-14E54A0C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763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C665C"/>
                </a:solidFill>
              </a:defRPr>
            </a:pPr>
            <a:r>
              <a:rPr sz="2025">
                <a:solidFill>
                  <a:srgbClr val="5C665C"/>
                </a:solidFill>
              </a:rPr>
              <a:t>When a potato application window opens, RDO needs one operating answer: can this operator, aircraft, product workflow, and field assignment safely go today?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7118B-A06C-4322-82C8-CFD55502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ECDA5-DC53-40A7-B975-BBD3084A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7772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72018"/>
                </a:solidFill>
              </a:defRPr>
            </a:pPr>
            <a:r>
              <a:rPr sz="2325">
                <a:solidFill>
                  <a:srgbClr val="172018"/>
                </a:solidFill>
              </a:rPr>
              <a:t>Weather, field access, and application timing compress the decision window.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0D460-EAB3-4DFE-813F-DCB5A2FF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AD15D8-F73F-49EA-BD34-4CFCF51F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7772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72018"/>
                </a:solidFill>
              </a:defRPr>
            </a:pPr>
            <a:r>
              <a:rPr sz="2325">
                <a:solidFill>
                  <a:srgbClr val="172018"/>
                </a:solidFill>
              </a:rPr>
              <a:t>Readiness data lives across training, credentials, equipment, SOPs, maintenance, and records.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CFAAC-FB76-4EF0-969B-8F284583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4C5C9-A5BB-4917-AA14-1D9933DE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7772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72018"/>
                </a:solidFill>
              </a:defRPr>
            </a:pPr>
            <a:r>
              <a:rPr sz="2325">
                <a:solidFill>
                  <a:srgbClr val="172018"/>
                </a:solidFill>
              </a:rPr>
              <a:t>A blocked assignment needs to be obvious before it reaches the field.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7E3A5-ED96-45F3-BB70-00E85AE6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38450"/>
            <a:ext cx="803910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50CCC-9305-4455-B6EC-2BB95944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62300"/>
            <a:ext cx="739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5A35"/>
                </a:solidFill>
              </a:defRPr>
            </a:pPr>
            <a:r>
              <a:rPr sz="1650" b="1">
                <a:solidFill>
                  <a:srgbClr val="2D5A35"/>
                </a:solidFill>
              </a:rPr>
              <a:t>Decision RDO needs</a:t>
            </a:r>
          </a:p>
        </p:txBody>
      </p:sp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061650-7EF9-413B-BA22-A1823BB4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00450"/>
            <a:ext cx="52959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18"/>
                </a:solidFill>
              </a:defRPr>
            </a:pPr>
            <a:r>
              <a:rPr sz="4050" b="1">
                <a:solidFill>
                  <a:srgbClr val="172018"/>
                </a:solidFill>
              </a:rPr>
              <a:t>Ready, blocked, or needs review</a:t>
            </a:r>
          </a:p>
        </p:txBody>
      </p:sp>
      <p:sp>
        <p:nvSpPr>
          <p:cNvPr id="1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5EC91BE-904A-41EC-9BC0-0363B9A8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029200"/>
            <a:ext cx="6572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C665C"/>
                </a:solidFill>
              </a:defRPr>
            </a:pPr>
            <a:r>
              <a:rPr sz="2025">
                <a:solidFill>
                  <a:srgbClr val="5C665C"/>
                </a:solidFill>
              </a:rPr>
              <a:t>Harvest OS turns operational readiness into a dispatch decision with clear evidence and accountable next actions.</a:t>
            </a:r>
          </a:p>
        </p:txBody>
      </p:sp>
    </p:spTree>
    <p:extLst>
      <p:ext uri="{BB962C8B-B14F-4D97-AF65-F5344CB8AC3E}">
        <p14:creationId xmlns:p14="http://schemas.microsoft.com/office/powerpoint/2010/main" val="3724544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930D95-7412-46C0-AEB4-5BB1E2C1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AD589-B685-4D63-97C7-357B80B4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5969D-AF53-4E5D-A7DC-88CABCDB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E9989-3EC2-4BB5-8AC9-D009138B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05A50-4E77-45A1-8199-01596C65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BA"/>
          </a:solidFill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04EBE596-1929-4700-BFA5-236F50AB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981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A35"/>
                </a:solidFill>
              </a:defRPr>
            </a:pPr>
            <a:r>
              <a:rPr sz="1200" b="1">
                <a:solidFill>
                  <a:srgbClr val="2D5A35"/>
                </a:solidFill>
              </a:rPr>
              <a:t>PROPOSED OPERATING MODEL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A45FBE-45BC-4FF0-836F-80D954A1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03441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018"/>
                </a:solidFill>
              </a:defRPr>
            </a:pPr>
            <a:r>
              <a:rPr sz="4500" b="1">
                <a:solidFill>
                  <a:srgbClr val="172018"/>
                </a:solidFill>
              </a:rPr>
              <a:t>RDO owns the division. Harvest enables the operating system.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9BBD68B-A133-41D0-B783-EB32F0F5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9334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C665C"/>
                </a:solidFill>
              </a:defRPr>
            </a:pPr>
            <a:r>
              <a:rPr sz="2025">
                <a:solidFill>
                  <a:srgbClr val="5C665C"/>
                </a:solidFill>
              </a:rPr>
              <a:t>This is not a custom applicator pitch. It is an implementation model for internal capability.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3A62E-8DFF-4E1D-930A-0552E5C9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5276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D5A35"/>
                </a:solidFill>
              </a:defRPr>
            </a:pPr>
            <a:r>
              <a:rPr sz="3150" b="1">
                <a:solidFill>
                  <a:srgbClr val="2D5A35"/>
                </a:solidFill>
              </a:rPr>
              <a:t>RDO owns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7F8DB-A4EA-4749-8AA2-F786E8EE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  <a:ln xmlns:a="http://schemas.openxmlformats.org/drawingml/2006/main" w="0">
            <a:solidFill>
              <a:srgbClr val="2D5A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A26CB-19A6-4A12-9946-F76C9507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C06FE-CAC5-4794-8C3D-1967CE3E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8"/>
                </a:solidFill>
              </a:defRPr>
            </a:pPr>
            <a:r>
              <a:rPr sz="1800">
                <a:solidFill>
                  <a:srgbClr val="172018"/>
                </a:solidFill>
              </a:rPr>
              <a:t>Aircraft and field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179C0-7D2F-44C5-8431-ED2E2C6E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084B9-FF3C-43AE-9418-F1608398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8"/>
                </a:solidFill>
              </a:defRPr>
            </a:pPr>
            <a:r>
              <a:rPr sz="1800">
                <a:solidFill>
                  <a:srgbClr val="172018"/>
                </a:solidFill>
              </a:rPr>
              <a:t>Internal operators and supervisors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A88AB-5DCE-4DF8-9843-6D0ED4AB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213D8-3CCF-4C99-99E3-D661E9E2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8"/>
                </a:solidFill>
              </a:defRPr>
            </a:pPr>
            <a:r>
              <a:rPr sz="1800">
                <a:solidFill>
                  <a:srgbClr val="172018"/>
                </a:solidFill>
              </a:rPr>
              <a:t>Crop priorities and spray windows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97823-03DB-458D-B889-9B4FCAB2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5276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68B3A"/>
                </a:solidFill>
              </a:defRPr>
            </a:pPr>
            <a:r>
              <a:rPr sz="3150" b="1">
                <a:solidFill>
                  <a:srgbClr val="B68B3A"/>
                </a:solidFill>
              </a:rPr>
              <a:t>Harvest provides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9C6AD-9645-4D97-A0F0-74A1AC95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B3A"/>
          </a:solidFill>
          <a:ln xmlns:a="http://schemas.openxmlformats.org/drawingml/2006/main" w="0">
            <a:solidFill>
              <a:srgbClr val="B68B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AC868-0D22-4F49-8536-678D5BE5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81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D8057-3294-4D5E-AC98-359F951B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8"/>
                </a:solidFill>
              </a:defRPr>
            </a:pPr>
            <a:r>
              <a:rPr sz="1800">
                <a:solidFill>
                  <a:srgbClr val="172018"/>
                </a:solidFill>
              </a:rPr>
              <a:t>OS implementation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E8730-653F-48B2-AF49-50F43E07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3D268-3FE8-4BBB-90AF-E2BCD02C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006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8"/>
                </a:solidFill>
              </a:defRPr>
            </a:pPr>
            <a:r>
              <a:rPr sz="1800">
                <a:solidFill>
                  <a:srgbClr val="172018"/>
                </a:solidFill>
              </a:rPr>
              <a:t>Training and readiness 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2E799-DE74-4A6E-86E2-9C4EF01A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19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128B30-BD4E-4FA0-88C9-B7677FF9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197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8"/>
                </a:solidFill>
              </a:defRPr>
            </a:pPr>
            <a:r>
              <a:rPr sz="1800">
                <a:solidFill>
                  <a:srgbClr val="172018"/>
                </a:solidFill>
              </a:rPr>
              <a:t>Support and maintenance process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E57160-D72B-4BF0-9E00-09514EFE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0"/>
            <a:ext cx="5276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F8EA8"/>
                </a:solidFill>
              </a:defRPr>
            </a:pPr>
            <a:r>
              <a:rPr sz="3150" b="1">
                <a:solidFill>
                  <a:srgbClr val="5F8EA8"/>
                </a:solidFill>
              </a:rPr>
              <a:t>Together govern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307824-106E-425E-B92D-2EEEA0BE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1719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EA8"/>
          </a:solidFill>
          <a:ln xmlns:a="http://schemas.openxmlformats.org/drawingml/2006/main" w="0">
            <a:solidFill>
              <a:srgbClr val="5F8EA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03FB79-AB7E-46A3-ADA9-BE32BD0C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381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089869-E202-4D17-B4E7-60DCEFFE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3815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8"/>
                </a:solidFill>
              </a:defRPr>
            </a:pPr>
            <a:r>
              <a:rPr sz="1800">
                <a:solidFill>
                  <a:srgbClr val="172018"/>
                </a:solidFill>
              </a:rPr>
              <a:t>Credential evidence tracking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A9CD22-765A-4A37-BD91-9592CF95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800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455257-0D5F-46C6-A0C9-8A4AB429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8006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8"/>
                </a:solidFill>
              </a:defRPr>
            </a:pPr>
            <a:r>
              <a:rPr sz="1800">
                <a:solidFill>
                  <a:srgbClr val="172018"/>
                </a:solidFill>
              </a:rPr>
              <a:t>Configurable readiness rules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1AAA15-F3C0-482B-8583-3856277A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219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AC2101-19A5-4D4E-A50F-1BCA07B1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2197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8"/>
                </a:solidFill>
              </a:defRPr>
            </a:pPr>
            <a:r>
              <a:rPr sz="1800">
                <a:solidFill>
                  <a:srgbClr val="172018"/>
                </a:solidFill>
              </a:rPr>
              <a:t>Application records and reporting</a:t>
            </a:r>
          </a:p>
        </p:txBody>
      </p:sp>
    </p:spTree>
    <p:extLst>
      <p:ext uri="{BB962C8B-B14F-4D97-AF65-F5344CB8AC3E}">
        <p14:creationId xmlns:p14="http://schemas.microsoft.com/office/powerpoint/2010/main" val="6888949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44257C-495E-4FE8-ACBF-85030B92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C31BE-09AC-425E-B8B5-BC18CE27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62EC9-73F9-48AE-AD99-BD963D9E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0B0BD-C50B-4400-8CDC-1A26596E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B26E4-4DA1-4143-B2E1-299E66C7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BA"/>
          </a:solidFill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269A752D-F824-4DAB-888E-F2E59C7D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504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A35"/>
                </a:solidFill>
              </a:defRPr>
            </a:pPr>
            <a:r>
              <a:rPr sz="1200" b="1">
                <a:solidFill>
                  <a:srgbClr val="2D5A35"/>
                </a:solidFill>
              </a:rPr>
              <a:t>WHAT RDO WOULD SEE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7B36F3-7EF9-43C7-A1CA-DD68CCCF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16967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018"/>
                </a:solidFill>
              </a:defRPr>
            </a:pPr>
            <a:r>
              <a:rPr sz="4500" b="1">
                <a:solidFill>
                  <a:srgbClr val="172018"/>
                </a:solidFill>
              </a:rPr>
              <a:t>A command center for the internal drone division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235533-F3D4-433C-AEF8-3DCAEBE8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891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C665C"/>
                </a:solidFill>
              </a:defRPr>
            </a:pPr>
            <a:r>
              <a:rPr sz="2025">
                <a:solidFill>
                  <a:srgbClr val="5C665C"/>
                </a:solidFill>
              </a:rPr>
              <a:t>The software experience is built around operational questions, not software modules.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8276C-6476-4CB9-990C-024ACF15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6459200" cy="571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E1A13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9182F-3EF9-43CA-83AE-A9BC915D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9753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R.D. Offutt Farms drone command center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D15CB-13B9-4B07-BD24-D836C8C5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26280"/>
            <a:ext cx="2190750" cy="1432560"/>
          </a:xfrm>
          <a:prstGeom xmlns:a="http://schemas.openxmlformats.org/drawingml/2006/main" prst="roundRect">
            <a:avLst>
              <a:gd name="adj" fmla="val 7979"/>
            </a:avLst>
          </a:prstGeom>
          <a:solidFill xmlns:a="http://schemas.openxmlformats.org/drawingml/2006/main">
            <a:srgbClr val="16331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DCE1A-B886-4929-8C54-B5863CB6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2440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9C36A"/>
                </a:solidFill>
              </a:defRPr>
            </a:pPr>
            <a:r>
              <a:rPr sz="3600" b="1">
                <a:solidFill>
                  <a:srgbClr val="A9C36A"/>
                </a:solidFill>
              </a:rPr>
              <a:t>1 /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55F8B-3864-4AEA-B62F-DBFF98D9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operators 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7D801-ABF1-4A9B-BFF2-0FA00A8E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00700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BD1BE"/>
                </a:solidFill>
              </a:defRPr>
            </a:pPr>
            <a:r>
              <a:rPr sz="1125">
                <a:solidFill>
                  <a:srgbClr val="BBD1BE"/>
                </a:solidFill>
              </a:rPr>
              <a:t>under Harvest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DA871-CE06-4C04-AF85-4C5E4242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26280"/>
            <a:ext cx="2190750" cy="1432560"/>
          </a:xfrm>
          <a:prstGeom xmlns:a="http://schemas.openxmlformats.org/drawingml/2006/main" prst="roundRect">
            <a:avLst>
              <a:gd name="adj" fmla="val 7979"/>
            </a:avLst>
          </a:prstGeom>
          <a:solidFill xmlns:a="http://schemas.openxmlformats.org/drawingml/2006/main">
            <a:srgbClr val="16331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C90FE-D882-4C45-89AA-FB1ABF51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2440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9C36A"/>
                </a:solidFill>
              </a:defRPr>
            </a:pPr>
            <a:r>
              <a:rPr sz="3600" b="1">
                <a:solidFill>
                  <a:srgbClr val="A9C36A"/>
                </a:solidFill>
              </a:rPr>
              <a:t>2 /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F5EAF-1CC3-4B3C-8B9F-44D8B20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149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aircraft ready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DA2571-CD32-44D2-B4A8-E218C022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600700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BD1BE"/>
                </a:solidFill>
              </a:defRPr>
            </a:pPr>
            <a:r>
              <a:rPr sz="1125">
                <a:solidFill>
                  <a:srgbClr val="BBD1BE"/>
                </a:solidFill>
              </a:rPr>
              <a:t>active + unblocked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2C2C3-F139-4136-9236-2E515CE8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26280"/>
            <a:ext cx="2190750" cy="1432560"/>
          </a:xfrm>
          <a:prstGeom xmlns:a="http://schemas.openxmlformats.org/drawingml/2006/main" prst="roundRect">
            <a:avLst>
              <a:gd name="adj" fmla="val 7979"/>
            </a:avLst>
          </a:prstGeom>
          <a:solidFill xmlns:a="http://schemas.openxmlformats.org/drawingml/2006/main">
            <a:srgbClr val="35271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F6DE1-822B-4CD0-AA21-131ECAE0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2440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45D3C"/>
                </a:solidFill>
              </a:defRPr>
            </a:pPr>
            <a:r>
              <a:rPr sz="3600" b="1">
                <a:solidFill>
                  <a:srgbClr val="B45D3C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9FBB7-C993-4F1B-86A9-B53F02EF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149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blocked jobs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E322D-5ABD-4EA2-871A-4CB6A69A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00700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BD1BE"/>
                </a:solidFill>
              </a:defRPr>
            </a:pPr>
            <a:r>
              <a:rPr sz="1125">
                <a:solidFill>
                  <a:srgbClr val="BBD1BE"/>
                </a:solidFill>
              </a:rPr>
              <a:t>clear next 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71BA56-84B9-4BC2-9B87-E8F82105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53150"/>
            <a:ext cx="975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Upcoming potato application windows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0C3244-0328-4D75-960D-823ACF7A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67500"/>
            <a:ext cx="975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536"/>
          </a:solidFill>
          <a:ln xmlns:a="http://schemas.openxmlformats.org/drawingml/2006/main" w="0">
            <a:solidFill>
              <a:srgbClr val="2E553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026570-C937-49C8-AE1C-DAFD10E3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0"/>
            <a:ext cx="584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9C36A"/>
                </a:solidFill>
              </a:defRPr>
            </a:pPr>
            <a:r>
              <a:rPr sz="1800" b="1">
                <a:solidFill>
                  <a:srgbClr val="A9C36A"/>
                </a:solidFill>
              </a:rPr>
              <a:t>Readiness sources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8001A3-319D-4079-A918-A6CF4A31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4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36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09E447-E92B-4077-BE17-BEDB6E39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248150"/>
            <a:ext cx="561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Operators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9E473A-FC28-4FFA-9949-7D96E417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2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36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13EEE9-8CDD-4CD9-926A-95CE7DC0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629150"/>
            <a:ext cx="561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Aircraft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2886BB-28B3-4F3A-ACAA-461AB4DE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91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36A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BC5E8B-8C00-4C76-B8B4-7849656C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991100"/>
            <a:ext cx="561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Credentials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25B91C-3CA9-4776-A1DE-B8F63EA0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72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36A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EC3E82-F54F-4A70-934A-518E5B20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372100"/>
            <a:ext cx="561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SOP checklists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213C43-09B3-4AD6-BAFB-D6FCFA85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34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36A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EC2A5F-C36D-429C-9C02-56D7CCA5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734050"/>
            <a:ext cx="561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Application records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BA28C3-6E05-4784-ABFB-ECF400E0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15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36A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BB9D06-1ACA-48FD-9A1A-AE1F7072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115050"/>
            <a:ext cx="561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Support tickets</a:t>
            </a:r>
          </a:p>
        </p:txBody>
      </p:sp>
    </p:spTree>
    <p:extLst>
      <p:ext uri="{BB962C8B-B14F-4D97-AF65-F5344CB8AC3E}">
        <p14:creationId xmlns:p14="http://schemas.microsoft.com/office/powerpoint/2010/main" val="3932944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D816C1-C88B-4629-A182-3AAE1765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0CB2A-CDEA-4900-8DB3-2F74BBD3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7985E-E155-4700-9374-3B73ED86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B8E14-CBBA-4C43-8002-65E7343E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E9BEF-EAD0-4C3D-AEA6-2F5D5E98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BA"/>
          </a:solidFill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F12CB019-636B-4729-A2C3-7F7388EF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066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A35"/>
                </a:solidFill>
              </a:defRPr>
            </a:pPr>
            <a:r>
              <a:rPr sz="1200" b="1">
                <a:solidFill>
                  <a:srgbClr val="2D5A35"/>
                </a:solidFill>
              </a:rPr>
              <a:t>READINESS GATE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FD8CDE-773A-4EB3-8EEC-5F4B1B47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09156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018"/>
                </a:solidFill>
              </a:defRPr>
            </a:pPr>
            <a:r>
              <a:rPr sz="4500" b="1">
                <a:solidFill>
                  <a:srgbClr val="172018"/>
                </a:solidFill>
              </a:rPr>
              <a:t>The system should block the wrong job before dispatch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8258640-108C-4340-96D2-E4F9F71D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9925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C665C"/>
                </a:solidFill>
              </a:defRPr>
            </a:pPr>
            <a:r>
              <a:rPr sz="2025">
                <a:solidFill>
                  <a:srgbClr val="5C665C"/>
                </a:solidFill>
              </a:rPr>
              <a:t>Harvest OS does not replace official certifications. It tracks evidence, verifies status, and applies RDO-approved readiness rules.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67B55-96BF-477F-BCAF-CBD71B35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7130"/>
            <a:ext cx="9589770" cy="5334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7F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58959-38CE-42F5-98E4-DF0B56B3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8934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45D3C"/>
                </a:solidFill>
              </a:defRPr>
            </a:pPr>
            <a:r>
              <a:rPr sz="3150" b="1">
                <a:solidFill>
                  <a:srgbClr val="B45D3C"/>
                </a:solidFill>
              </a:rPr>
              <a:t>Cannot assign this job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C48E1-44CC-4917-8A84-9D6BCFF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6AA3A-049A-4503-9257-97C9CD38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86300"/>
            <a:ext cx="8705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018"/>
                </a:solidFill>
              </a:defRPr>
            </a:pPr>
            <a:r>
              <a:rPr sz="1950">
                <a:solidFill>
                  <a:srgbClr val="172018"/>
                </a:solidFill>
              </a:rPr>
              <a:t>Practical signoff is incomplete.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181F4-F5EF-49AB-BFBD-2A711AC8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48E77-EBE2-4CA7-AEE7-E9844420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24450"/>
            <a:ext cx="8705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018"/>
                </a:solidFill>
              </a:defRPr>
            </a:pPr>
            <a:r>
              <a:rPr sz="1950">
                <a:solidFill>
                  <a:srgbClr val="172018"/>
                </a:solidFill>
              </a:rPr>
              <a:t>State/category pesticide credential is not verified.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19618-EF6A-4A23-B2AB-2C0F0384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62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E2915-7AFA-4832-A57F-CC6572C3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8705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018"/>
                </a:solidFill>
              </a:defRPr>
            </a:pPr>
            <a:r>
              <a:rPr sz="1950">
                <a:solidFill>
                  <a:srgbClr val="172018"/>
                </a:solidFill>
              </a:rPr>
              <a:t>Aircraft calibration is overdue.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BAB6D-16E0-4EBC-9539-CC379C21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00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E88B3-0CCD-4A71-9C21-2C4723EC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000750"/>
            <a:ext cx="8705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018"/>
                </a:solidFill>
              </a:defRPr>
            </a:pPr>
            <a:r>
              <a:rPr sz="1950">
                <a:solidFill>
                  <a:srgbClr val="172018"/>
                </a:solidFill>
              </a:rPr>
              <a:t>Battery inspection checklist is incomplete.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AC02B-49E3-4921-9310-492577EC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3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AE4F5-3B40-4DAE-8B10-0A952B99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438900"/>
            <a:ext cx="8705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018"/>
                </a:solidFill>
              </a:defRPr>
            </a:pPr>
            <a:r>
              <a:rPr sz="1950">
                <a:solidFill>
                  <a:srgbClr val="172018"/>
                </a:solidFill>
              </a:rPr>
              <a:t>Required SOP checklist and job documents are incomplete.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0B510-FE44-4F86-8B60-EC6D26FC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714750"/>
            <a:ext cx="6400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D5A35"/>
                </a:solidFill>
              </a:defRPr>
            </a:pPr>
            <a:r>
              <a:rPr sz="4350" b="1">
                <a:solidFill>
                  <a:srgbClr val="2D5A35"/>
                </a:solidFill>
              </a:rPr>
              <a:t>Ready under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91CB4-8EB2-4147-9418-8EFCBE58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438650"/>
            <a:ext cx="6400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18"/>
                </a:solidFill>
              </a:defRPr>
            </a:pPr>
            <a:r>
              <a:rPr sz="1800" b="1">
                <a:solidFill>
                  <a:srgbClr val="172018"/>
                </a:solidFill>
              </a:rPr>
              <a:t>not certified by Harvest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F9053-263B-4D70-B524-9AB08679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800600"/>
            <a:ext cx="640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65C"/>
                </a:solidFill>
              </a:defRPr>
            </a:pPr>
            <a:r>
              <a:rPr sz="1350">
                <a:solidFill>
                  <a:srgbClr val="5C665C"/>
                </a:solidFill>
              </a:rPr>
              <a:t>clear language matters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A4442-26E7-4B15-85D4-EC8963BD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276850"/>
            <a:ext cx="6400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B68B3A"/>
                </a:solidFill>
              </a:defRPr>
            </a:pPr>
            <a:r>
              <a:rPr sz="4350" b="1">
                <a:solidFill>
                  <a:srgbClr val="B68B3A"/>
                </a:solidFill>
              </a:rPr>
              <a:t>Configurable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3BC8A5-B34C-4654-AB06-E8EEE230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000750"/>
            <a:ext cx="6400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18"/>
                </a:solidFill>
              </a:defRPr>
            </a:pPr>
            <a:r>
              <a:rPr sz="1800" b="1">
                <a:solidFill>
                  <a:srgbClr val="172018"/>
                </a:solidFill>
              </a:rPr>
              <a:t>by state, aircraft, payload, operation type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37D388-92B9-495C-992C-406C4696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62700"/>
            <a:ext cx="640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65C"/>
                </a:solidFill>
              </a:defRPr>
            </a:pPr>
            <a:r>
              <a:rPr sz="1350">
                <a:solidFill>
                  <a:srgbClr val="5C665C"/>
                </a:solidFill>
              </a:rPr>
              <a:t>requirements vary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741ECA-D2F1-4F5F-B351-38FE9A58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838950"/>
            <a:ext cx="6400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C665C"/>
                </a:solidFill>
              </a:defRPr>
            </a:pPr>
            <a:r>
              <a:rPr sz="1725">
                <a:solidFill>
                  <a:srgbClr val="5C665C"/>
                </a:solidFill>
              </a:rPr>
              <a:t>Recommended phrasing: credential tracked, credential verified, Harvest-qualified, ready under Harvest rules.</a:t>
            </a:r>
          </a:p>
        </p:txBody>
      </p:sp>
    </p:spTree>
    <p:extLst>
      <p:ext uri="{BB962C8B-B14F-4D97-AF65-F5344CB8AC3E}">
        <p14:creationId xmlns:p14="http://schemas.microsoft.com/office/powerpoint/2010/main" val="14553617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8A1F37-E590-4358-9391-E3F15A78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6B400-831F-44BD-8569-71EDFDFD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3CCF3-6A05-4DAD-94F8-E822AC2B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C0DBE-089F-4D84-AF64-FD33EA1E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6369B-4771-4FA6-A7F5-819B08FC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BA"/>
          </a:solidFill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19787583-781B-49B4-9223-EE3D17E0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543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A35"/>
                </a:solidFill>
              </a:defRPr>
            </a:pPr>
            <a:r>
              <a:rPr sz="1200" b="1">
                <a:solidFill>
                  <a:srgbClr val="2D5A35"/>
                </a:solidFill>
              </a:rPr>
              <a:t>IMPLEMENTATION PLAN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1F5A0B-9E0C-4FB0-BAA9-9199A0EC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02870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018"/>
                </a:solidFill>
              </a:defRPr>
            </a:pPr>
            <a:r>
              <a:rPr sz="4500" b="1">
                <a:solidFill>
                  <a:srgbClr val="172018"/>
                </a:solidFill>
              </a:rPr>
              <a:t>A measured path to a governed first season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4C474C-3D37-4F6F-8BE6-55D41123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0896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C665C"/>
                </a:solidFill>
              </a:defRPr>
            </a:pPr>
            <a:r>
              <a:rPr sz="2025">
                <a:solidFill>
                  <a:srgbClr val="5C665C"/>
                </a:solidFill>
              </a:rPr>
              <a:t>Start with a pilot division workflow, prove dispatch readiness, then expand to more fields, operators, and aircraft.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72109-DE86-4C60-BD54-D7C0BA52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3924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D5A35"/>
                </a:solidFill>
              </a:defRPr>
            </a:pPr>
            <a:r>
              <a:rPr sz="4050" b="1">
                <a:solidFill>
                  <a:srgbClr val="2D5A3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CF35B-2CCD-4CB3-9859-423926C5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92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E"/>
          </a:solidFill>
          <a:ln xmlns:a="http://schemas.openxmlformats.org/drawingml/2006/main" w="0">
            <a:solidFill>
              <a:srgbClr val="D8D1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FB365-72DC-4150-89E0-B3235429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392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/>
            </a:pPr>
            <a:r>
              <a:rPr sz="2175" b="1"/>
              <a:t>Readiness workshop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8E2AE-414B-4C0A-A98A-DC94EBDF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3924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C665C"/>
                </a:solidFill>
              </a:defRPr>
            </a:pPr>
            <a:r>
              <a:rPr sz="1575">
                <a:solidFill>
                  <a:srgbClr val="5C665C"/>
                </a:solidFill>
              </a:rPr>
              <a:t>Confirm states, crop priorities, aircraft, payloads, records, and support process.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D6D64-2BF6-473C-8738-F4B592C7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14750"/>
            <a:ext cx="3924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D5A35"/>
                </a:solidFill>
              </a:defRPr>
            </a:pPr>
            <a:r>
              <a:rPr sz="4050" b="1">
                <a:solidFill>
                  <a:srgbClr val="2D5A3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25C2D-3BFB-4F7A-8867-E2DD353C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76750"/>
            <a:ext cx="392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E"/>
          </a:solidFill>
          <a:ln xmlns:a="http://schemas.openxmlformats.org/drawingml/2006/main" w="0">
            <a:solidFill>
              <a:srgbClr val="D8D1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857F6-CAD7-46F7-BCF8-66031911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67250"/>
            <a:ext cx="392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/>
            </a:pPr>
            <a:r>
              <a:rPr sz="2175" b="1"/>
              <a:t>Division blueprint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209FC-5814-4613-A2FE-E723EAA0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43500"/>
            <a:ext cx="3924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C665C"/>
                </a:solidFill>
              </a:defRPr>
            </a:pPr>
            <a:r>
              <a:rPr sz="1575">
                <a:solidFill>
                  <a:srgbClr val="5C665C"/>
                </a:solidFill>
              </a:rPr>
              <a:t>Map equipment, training, SOPs, credentials, maintenance, and reporting.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44D82-5E26-419D-9A1C-1D297602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14750"/>
            <a:ext cx="3924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D5A35"/>
                </a:solidFill>
              </a:defRPr>
            </a:pPr>
            <a:r>
              <a:rPr sz="4050" b="1">
                <a:solidFill>
                  <a:srgbClr val="2D5A35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9B511-3716-4282-930F-397AB886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76750"/>
            <a:ext cx="392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E"/>
          </a:solidFill>
          <a:ln xmlns:a="http://schemas.openxmlformats.org/drawingml/2006/main" w="0">
            <a:solidFill>
              <a:srgbClr val="D8D1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C5DF9-1301-46BB-9A59-62681A66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67250"/>
            <a:ext cx="392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/>
            </a:pPr>
            <a:r>
              <a:rPr sz="2175" b="1"/>
              <a:t>Pilot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F7EFA-44D6-4007-B70E-3F76F2EC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43500"/>
            <a:ext cx="3924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C665C"/>
                </a:solidFill>
              </a:defRPr>
            </a:pPr>
            <a:r>
              <a:rPr sz="1575">
                <a:solidFill>
                  <a:srgbClr val="5C665C"/>
                </a:solidFill>
              </a:rPr>
              <a:t>Run selected potato windows through readiness gates and closeout records.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7C2F67-2125-4672-8CA3-2016D01A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714750"/>
            <a:ext cx="3924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D5A35"/>
                </a:solidFill>
              </a:defRPr>
            </a:pPr>
            <a:r>
              <a:rPr sz="4050" b="1">
                <a:solidFill>
                  <a:srgbClr val="2D5A35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69BBD8-2A23-476D-9452-05498DF7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476750"/>
            <a:ext cx="392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E"/>
          </a:solidFill>
          <a:ln xmlns:a="http://schemas.openxmlformats.org/drawingml/2006/main" w="0">
            <a:solidFill>
              <a:srgbClr val="D8D1B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D6EE79-B963-4700-B27B-A094E26C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667250"/>
            <a:ext cx="392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/>
            </a:pPr>
            <a:r>
              <a:rPr sz="2175" b="1"/>
              <a:t>Scale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02EB1D-5C2C-4508-A653-9042542A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143500"/>
            <a:ext cx="3924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C665C"/>
                </a:solidFill>
              </a:defRPr>
            </a:pPr>
            <a:r>
              <a:rPr sz="1575">
                <a:solidFill>
                  <a:srgbClr val="5C665C"/>
                </a:solidFill>
              </a:rPr>
              <a:t>Review performance, blockers, support load, and next-season division plan.</a:t>
            </a:r>
          </a:p>
        </p:txBody>
      </p:sp>
    </p:spTree>
    <p:extLst>
      <p:ext uri="{BB962C8B-B14F-4D97-AF65-F5344CB8AC3E}">
        <p14:creationId xmlns:p14="http://schemas.microsoft.com/office/powerpoint/2010/main" val="19037458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163E52-D7B2-4BE0-9E7A-10890578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03246-C121-467B-81CD-47C1DF3A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DF63F-77CB-4013-AE1D-4CEB8762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CB5C6-C3A2-4E61-B668-C9865ECF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9A61E-C8DF-418F-84E1-C0C16DF8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BA"/>
          </a:solidFill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8104D840-BD38-4AAA-A849-1E215C88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800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A35"/>
                </a:solidFill>
              </a:defRPr>
            </a:pPr>
            <a:r>
              <a:rPr sz="1200" b="1">
                <a:solidFill>
                  <a:srgbClr val="2D5A35"/>
                </a:solidFill>
              </a:rPr>
              <a:t>PILOT SCOPE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DD2C4D-8A27-4D9B-B41A-F6DB2686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08204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018"/>
                </a:solidFill>
              </a:defRPr>
            </a:pPr>
            <a:r>
              <a:rPr sz="4500" b="1">
                <a:solidFill>
                  <a:srgbClr val="172018"/>
                </a:solidFill>
              </a:rPr>
              <a:t>Make the first engagement specific enough to prove value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0582448-617D-49CF-8A38-20278199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8020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C665C"/>
                </a:solidFill>
              </a:defRPr>
            </a:pPr>
            <a:r>
              <a:rPr sz="2025">
                <a:solidFill>
                  <a:srgbClr val="5C665C"/>
                </a:solidFill>
              </a:rPr>
              <a:t>The pilot should focus on real operating readiness, not a broad platform tour.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956D7-7249-4094-8120-860C9C65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7200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D5A35"/>
                </a:solidFill>
              </a:defRPr>
            </a:pPr>
            <a:r>
              <a:rPr sz="4350" b="1">
                <a:solidFill>
                  <a:srgbClr val="2D5A35"/>
                </a:solidFill>
              </a:rPr>
              <a:t>2 locations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7BAC4-9664-4464-A5D2-3D6B796F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7200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18"/>
                </a:solidFill>
              </a:defRPr>
            </a:pPr>
            <a:r>
              <a:rPr sz="1800" b="1">
                <a:solidFill>
                  <a:srgbClr val="172018"/>
                </a:solidFill>
              </a:rPr>
              <a:t>representative potato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1890F-D605-4455-89BF-A5C82D60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720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65C"/>
                </a:solidFill>
              </a:defRPr>
            </a:pPr>
            <a:r>
              <a:rPr sz="1350">
                <a:solidFill>
                  <a:srgbClr val="5C665C"/>
                </a:solidFill>
              </a:rPr>
              <a:t>North Dakota + Minnesota demo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10D44-48BD-4CA2-8B52-BD61099C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7200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B68B3A"/>
                </a:solidFill>
              </a:defRPr>
            </a:pPr>
            <a:r>
              <a:rPr sz="4350" b="1">
                <a:solidFill>
                  <a:srgbClr val="B68B3A"/>
                </a:solidFill>
              </a:rPr>
              <a:t>3 operators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7ED44-5034-4783-9511-9A2A618B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7200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18"/>
                </a:solidFill>
              </a:defRPr>
            </a:pPr>
            <a:r>
              <a:rPr sz="1800" b="1">
                <a:solidFill>
                  <a:srgbClr val="172018"/>
                </a:solidFill>
              </a:rPr>
              <a:t>mixed readiness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E79A1-A29A-4BB5-B136-4A7A8078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53150"/>
            <a:ext cx="720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65C"/>
                </a:solidFill>
              </a:defRPr>
            </a:pPr>
            <a:r>
              <a:rPr sz="1350">
                <a:solidFill>
                  <a:srgbClr val="5C665C"/>
                </a:solidFill>
              </a:rPr>
              <a:t>lead, trainee, backup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3649C-9C64-4D60-8051-A31F9C72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10350"/>
            <a:ext cx="7200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F8EA8"/>
                </a:solidFill>
              </a:defRPr>
            </a:pPr>
            <a:r>
              <a:rPr sz="4350" b="1">
                <a:solidFill>
                  <a:srgbClr val="5F8EA8"/>
                </a:solidFill>
              </a:rPr>
              <a:t>3 aircraft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E10C4-29EE-4B3A-B96C-A5709B30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53300"/>
            <a:ext cx="7200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18"/>
                </a:solidFill>
              </a:defRPr>
            </a:pPr>
            <a:r>
              <a:rPr sz="1800" b="1">
                <a:solidFill>
                  <a:srgbClr val="172018"/>
                </a:solidFill>
              </a:rPr>
              <a:t>ready and blocked examples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D645C-4AA3-43CC-9A04-4DF6FFFF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96200"/>
            <a:ext cx="720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65C"/>
                </a:solidFill>
              </a:defRPr>
            </a:pPr>
            <a:r>
              <a:rPr sz="1350">
                <a:solidFill>
                  <a:srgbClr val="5C665C"/>
                </a:solidFill>
              </a:rPr>
              <a:t>maintenance and calibration included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3214B-A264-4465-B1B5-A480D9A0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24250"/>
            <a:ext cx="8782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/>
            </a:pPr>
            <a:r>
              <a:rPr sz="3300" b="1"/>
              <a:t>Pilot success criteria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40722-09AD-410B-BD1D-B72CF515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F14825-C182-4BC4-B421-20DB229E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29100"/>
            <a:ext cx="8553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18"/>
                </a:solidFill>
              </a:defRPr>
            </a:pPr>
            <a:r>
              <a:rPr sz="1875">
                <a:solidFill>
                  <a:srgbClr val="172018"/>
                </a:solidFill>
              </a:rPr>
              <a:t>RDO can see why a job is ready or blocked.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19C4E5-49DD-402D-9663-A23F8B4C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67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0E641-2BCF-4C00-86B5-E1268EC4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67250"/>
            <a:ext cx="8553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18"/>
                </a:solidFill>
              </a:defRPr>
            </a:pPr>
            <a:r>
              <a:rPr sz="1875">
                <a:solidFill>
                  <a:srgbClr val="172018"/>
                </a:solidFill>
              </a:rPr>
              <a:t>Operators know what remains before assignment.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B2A8B-BFC6-4D19-8DDC-7348D330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F5903F-0F22-4D78-B23E-45F0E27E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86350"/>
            <a:ext cx="8553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18"/>
                </a:solidFill>
              </a:defRPr>
            </a:pPr>
            <a:r>
              <a:rPr sz="1875">
                <a:solidFill>
                  <a:srgbClr val="172018"/>
                </a:solidFill>
              </a:rPr>
              <a:t>Aircraft maintenance state affects dispatch automatically.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103573-196D-47BB-9B71-93274578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24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C1F459-DDC2-432A-9C04-BE87CE69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524500"/>
            <a:ext cx="8553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18"/>
                </a:solidFill>
              </a:defRPr>
            </a:pPr>
            <a:r>
              <a:rPr sz="1875">
                <a:solidFill>
                  <a:srgbClr val="172018"/>
                </a:solidFill>
              </a:rPr>
              <a:t>Completed applications produce records RDO can review.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918D4A-B225-43A3-B563-D3961840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943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FD93E8-6E51-42D8-B627-7BBDE64C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943600"/>
            <a:ext cx="8553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18"/>
                </a:solidFill>
              </a:defRPr>
            </a:pPr>
            <a:r>
              <a:rPr sz="1875">
                <a:solidFill>
                  <a:srgbClr val="172018"/>
                </a:solidFill>
              </a:rPr>
              <a:t>Support tickets and blockers feed the next operating meeting.</a:t>
            </a:r>
          </a:p>
        </p:txBody>
      </p:sp>
    </p:spTree>
    <p:extLst>
      <p:ext uri="{BB962C8B-B14F-4D97-AF65-F5344CB8AC3E}">
        <p14:creationId xmlns:p14="http://schemas.microsoft.com/office/powerpoint/2010/main" val="19997474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2970F8-56C5-43F8-A00B-746CB6FB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9F9C7-C3AA-4EC8-AD77-3EC87DC7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FDE27-ADB3-4B8A-AB59-3F916D8A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4EF01-9656-4C1F-9B13-F4543D9B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B0D17-F723-447F-A9FB-7CFB2F6A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BA"/>
          </a:solidFill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8CB18E41-8F87-4900-BBEC-DE64E72D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543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A35"/>
                </a:solidFill>
              </a:defRPr>
            </a:pPr>
            <a:r>
              <a:rPr sz="1200" b="1">
                <a:solidFill>
                  <a:srgbClr val="2D5A35"/>
                </a:solidFill>
              </a:rPr>
              <a:t>SEASON-ONE OUTCOME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C3E5F1-9A6D-4F89-A60D-5BB35323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09156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018"/>
                </a:solidFill>
              </a:defRPr>
            </a:pPr>
            <a:r>
              <a:rPr sz="4500" b="1">
                <a:solidFill>
                  <a:srgbClr val="172018"/>
                </a:solidFill>
              </a:rPr>
              <a:t>RDO leaves with an operating capability, not a demo account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2C009AE-BA9B-41A7-8D16-8355B0A7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0191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C665C"/>
                </a:solidFill>
              </a:defRPr>
            </a:pPr>
            <a:r>
              <a:rPr sz="2025">
                <a:solidFill>
                  <a:srgbClr val="5C665C"/>
                </a:solidFill>
              </a:rPr>
              <a:t>The goal is a repeatable internal division model that grows stronger with every application record, support ticket, and readiness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B7CDE-644C-4175-B5DB-D9703DD9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B95CF-80EA-4CBC-9753-721C9D47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677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018"/>
                </a:solidFill>
              </a:defRPr>
            </a:pPr>
            <a:r>
              <a:rPr sz="2250">
                <a:solidFill>
                  <a:srgbClr val="172018"/>
                </a:solidFill>
              </a:rPr>
              <a:t>A clear division blueprint RDO can own.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64407-DC2D-4CFA-B521-EED7C9A6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39BE7-ECF9-4E12-A10F-4B74094E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9677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018"/>
                </a:solidFill>
              </a:defRPr>
            </a:pPr>
            <a:r>
              <a:rPr sz="2250">
                <a:solidFill>
                  <a:srgbClr val="172018"/>
                </a:solidFill>
              </a:rPr>
              <a:t>Operator qualification and credential evidence in one workflow.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6A600-DA51-4A3A-8072-F3246B0D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E5FFFC-F9F0-41DD-894D-90A8A56E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9677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018"/>
                </a:solidFill>
              </a:defRPr>
            </a:pPr>
            <a:r>
              <a:rPr sz="2250">
                <a:solidFill>
                  <a:srgbClr val="172018"/>
                </a:solidFill>
              </a:rPr>
              <a:t>Aircraft readiness tied to dispatch decisions.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C2325-64A6-453C-ABAF-1C4329EB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EC9FD-BC30-4FCC-9F65-634DEEA9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9677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018"/>
                </a:solidFill>
              </a:defRPr>
            </a:pPr>
            <a:r>
              <a:rPr sz="2250">
                <a:solidFill>
                  <a:srgbClr val="172018"/>
                </a:solidFill>
              </a:rPr>
              <a:t>Application records and support tickets feeding performance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7965D-CE62-49B7-AD13-E79F1848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F8E497-DE57-4019-B035-4754B81F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9677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018"/>
                </a:solidFill>
              </a:defRPr>
            </a:pPr>
            <a:r>
              <a:rPr sz="2250">
                <a:solidFill>
                  <a:srgbClr val="172018"/>
                </a:solidFill>
              </a:rPr>
              <a:t>A configurable readiness model for future states, payloads, and aircraft.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D1359A-3CBA-4CBC-BECB-7D1A1D14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707130"/>
            <a:ext cx="6134100" cy="4381500"/>
          </a:xfrm>
          <a:prstGeom xmlns:a="http://schemas.openxmlformats.org/drawingml/2006/main" prst="roundRect">
            <a:avLst>
              <a:gd name="adj" fmla="val 3913"/>
            </a:avLst>
          </a:prstGeom>
          <a:solidFill xmlns:a="http://schemas.openxmlformats.org/drawingml/2006/main">
            <a:srgbClr val="0E1A13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22216-C1BA-4FDC-B7EC-BD5DF4EC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038600"/>
            <a:ext cx="548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C36A"/>
                </a:solidFill>
              </a:defRPr>
            </a:pPr>
            <a:r>
              <a:rPr sz="1650" b="1">
                <a:solidFill>
                  <a:srgbClr val="A9C36A"/>
                </a:solidFill>
              </a:rPr>
              <a:t>Executive readout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33D5F-DC1F-4DDF-82AA-E76B8559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476750"/>
            <a:ext cx="4038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Governed internal capability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703C6-BB28-4575-A596-D71B22B3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486400"/>
            <a:ext cx="430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FE0CE"/>
                </a:solidFill>
              </a:defRPr>
            </a:pPr>
            <a:r>
              <a:rPr sz="1800">
                <a:solidFill>
                  <a:srgbClr val="CFE0CE"/>
                </a:solidFill>
              </a:rPr>
              <a:t>That is the Harvest Drone OS promise for RDO.</a:t>
            </a:r>
          </a:p>
        </p:txBody>
      </p:sp>
    </p:spTree>
    <p:extLst>
      <p:ext uri="{BB962C8B-B14F-4D97-AF65-F5344CB8AC3E}">
        <p14:creationId xmlns:p14="http://schemas.microsoft.com/office/powerpoint/2010/main" val="5557822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19D2A-6BBB-40E8-A6E1-7A22BC06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B2B09-E960-4639-BA43-F16FA655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6F057-5E3D-45A7-B5D8-103B7CF5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E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545C7-A052-472E-8376-69ECE88A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345C9-6BBC-4533-AF0C-21CDD0E3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BA"/>
          </a:solidFill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9D55F2BC-7EC6-474C-ADC3-9817EEF5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752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D5A35"/>
                </a:solidFill>
              </a:defRPr>
            </a:pPr>
            <a:r>
              <a:rPr sz="1200" b="1">
                <a:solidFill>
                  <a:srgbClr val="2D5A35"/>
                </a:solidFill>
              </a:rPr>
              <a:t>RECOMMENDED NEXT STEP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4CD65E-CFF9-4833-90A3-D3BDFB14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10287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018"/>
                </a:solidFill>
              </a:defRPr>
            </a:pPr>
            <a:r>
              <a:rPr sz="4500" b="1">
                <a:solidFill>
                  <a:srgbClr val="172018"/>
                </a:solidFill>
              </a:rPr>
              <a:t>Run a readiness design workshop with RDO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5C37CB-0DFC-40D9-AA33-D0797E07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7715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C665C"/>
                </a:solidFill>
              </a:defRPr>
            </a:pPr>
            <a:r>
              <a:rPr sz="2025">
                <a:solidFill>
                  <a:srgbClr val="5C665C"/>
                </a:solidFill>
              </a:rPr>
              <a:t>Use the workshop to turn the concept into RDO’s first operating blueprint.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C3658-E622-4565-8B0F-39F27364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8782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/>
            </a:pPr>
            <a:r>
              <a:rPr sz="3300" b="1"/>
              <a:t>Workshop outputs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76015-A7EB-4EB1-A649-12851BF4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566BD-61C0-498B-9FA6-CE627D14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8553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018"/>
                </a:solidFill>
              </a:defRPr>
            </a:pPr>
            <a:r>
              <a:rPr sz="2025">
                <a:solidFill>
                  <a:srgbClr val="172018"/>
                </a:solidFill>
              </a:rPr>
              <a:t>First crop/location scope.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AE8C8-B13A-425F-AD24-04D8A7A1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606AE-BA32-4C2C-97B2-85AB07DE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8553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018"/>
                </a:solidFill>
              </a:defRPr>
            </a:pPr>
            <a:r>
              <a:rPr sz="2025">
                <a:solidFill>
                  <a:srgbClr val="172018"/>
                </a:solidFill>
              </a:rPr>
              <a:t>Operator and aircraft roster.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BB19A-01F0-4266-9855-F4318C62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9E516-4BC2-4021-9F5A-66BF9C88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8553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018"/>
                </a:solidFill>
              </a:defRPr>
            </a:pPr>
            <a:r>
              <a:rPr sz="2025">
                <a:solidFill>
                  <a:srgbClr val="172018"/>
                </a:solidFill>
              </a:rPr>
              <a:t>Credential and SOP requirement matrix.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B4F77-63CC-44BC-A8A7-EB070604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23DE1-5F83-4060-B71E-46E034C0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8553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018"/>
                </a:solidFill>
              </a:defRPr>
            </a:pPr>
            <a:r>
              <a:rPr sz="2025">
                <a:solidFill>
                  <a:srgbClr val="172018"/>
                </a:solidFill>
              </a:rPr>
              <a:t>Readiness gate rules and blocker language.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03212-C8BE-4BD5-9CA8-7B2F97F5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5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5FB0B-35CC-45D9-9722-3C1743F3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8553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018"/>
                </a:solidFill>
              </a:defRPr>
            </a:pPr>
            <a:r>
              <a:rPr sz="2025">
                <a:solidFill>
                  <a:srgbClr val="172018"/>
                </a:solidFill>
              </a:rPr>
              <a:t>Pilot spray calendar and closeout reporting plan.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D18A2-1D68-4B64-AA3C-E7C95BAB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273" y="2529840"/>
            <a:ext cx="7192328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2D5A35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A30A4-BB1D-46DA-87D1-7429BD19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57500"/>
            <a:ext cx="6553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DECCB"/>
                </a:solidFill>
              </a:defRPr>
            </a:pPr>
            <a:r>
              <a:rPr sz="1650" b="1">
                <a:solidFill>
                  <a:srgbClr val="DDECCB"/>
                </a:solidFill>
              </a:rPr>
              <a:t>Close with this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A44F36-D3CC-47B3-8009-48449B9B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33750"/>
            <a:ext cx="655320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RDO should not have to choose between speed and control. Harvest helps make internal drone application operationally ready.</a:t>
            </a:r>
          </a:p>
        </p:txBody>
      </p:sp>
    </p:spTree>
    <p:extLst>
      <p:ext uri="{BB962C8B-B14F-4D97-AF65-F5344CB8AC3E}">
        <p14:creationId xmlns:p14="http://schemas.microsoft.com/office/powerpoint/2010/main" val="1996899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2026-05-05T17:28:32.6340000Z</dcterms:created>
  <dcterms:modified xsi:type="dcterms:W3CDTF">2026-05-05T17:28:32.6340000Z</dcterms:modified>
</coreProperties>
</file>